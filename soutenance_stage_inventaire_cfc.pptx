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4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91440" cy="6858000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01_0_720x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"/>
            <a:ext cx="1417320" cy="1417320"/>
          </a:xfrm>
          <a:prstGeom prst="rect">
            <a:avLst/>
          </a:prstGeom>
        </p:spPr>
      </p:pic>
      <p:pic>
        <p:nvPicPr>
          <p:cNvPr id="5" name="Picture 4" descr="p01_1_225x2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20040"/>
            <a:ext cx="1325880" cy="1325880"/>
          </a:xfrm>
          <a:prstGeom prst="rect">
            <a:avLst/>
          </a:prstGeom>
        </p:spPr>
      </p:pic>
      <p:pic>
        <p:nvPicPr>
          <p:cNvPr id="6" name="Picture 5" descr="p01_2_927x4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4444" y="457200"/>
            <a:ext cx="2256472" cy="1051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7280" y="1874519"/>
            <a:ext cx="10241280" cy="54864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66F8E"/>
                </a:solidFill>
                <a:latin typeface="Calibri"/>
              </a:rPr>
              <a:t>RAPPORT DE STAGE   —   SOUTENANCE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B344A"/>
                </a:solidFill>
                <a:latin typeface="Calibri"/>
              </a:rPr>
              <a:t>Conception et Développement d'une Application Android</a:t>
            </a:r>
          </a:p>
          <a:p>
            <a:pPr algn="ctr"/>
            <a:r>
              <a:rPr sz="3000" b="1" i="0">
                <a:solidFill>
                  <a:srgbClr val="1B344A"/>
                </a:solidFill>
                <a:latin typeface="Calibri"/>
              </a:rPr>
              <a:t>Intelligente pour la Gestion de l'Inventaire Physique</a:t>
            </a:r>
          </a:p>
        </p:txBody>
      </p:sp>
      <p:pic>
        <p:nvPicPr>
          <p:cNvPr id="10" name="Picture 9" descr="p01_3_340x1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4554" y="3840480"/>
            <a:ext cx="1678131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47548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Audit, Ingénierie en Consulting et Formation — Casablanca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5349240"/>
            <a:ext cx="8961120" cy="109728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68112"/>
            <a:ext cx="4389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Réalisé par :</a:t>
            </a:r>
          </a:p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Kenza FOUDALI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5468112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Encadrante :</a:t>
            </a:r>
          </a:p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Mme Laila MAADIR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47395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778890"/>
                </a:solidFill>
                <a:latin typeface="Calibri"/>
              </a:rPr>
              <a:t>Année Universitaire 2025 / 2026   ·   04 mai – 13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de la présentation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4173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4173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5087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Introduction &amp; Contexte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3317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231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Présentation de l'organisme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2461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3375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Objectifs du projet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1605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Gestion du projet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0749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0749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1663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Conception UML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14173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173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15087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Technologies utilisées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3317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3317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4231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Architecture du système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2461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2461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3375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Présentation de la plateforme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41605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160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2519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Perspectives d'évolution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0749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50749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663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Introduction &amp; Contexte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1B344A"/>
                </a:solidFill>
                <a:latin typeface="Calibri"/>
              </a:rPr>
              <a:t>CF Consult réalise régulièrement des missions d'inventaire physique sur le terrain. L'objectif du projet : faire passer cette activité du papier au mobile, avec un outil moderne, rapide et intelligent.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4023360" cy="393192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4023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778890"/>
                </a:solidFill>
                <a:latin typeface="Calibri"/>
              </a:rPr>
              <a:t>Hier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63240"/>
            <a:ext cx="4023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0" i="0">
                <a:solidFill>
                  <a:srgbClr val="778890"/>
                </a:solidFill>
                <a:latin typeface="Calibri"/>
              </a:rPr>
              <a:t>📋   📝   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–  Fiches papier sur le terrain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–  Re-saisie manuelle sur Excel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–  Pas de photo ni de géolocalisation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–  Suivi difficile en temps réel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3703320"/>
            <a:ext cx="2377440" cy="1188720"/>
          </a:xfrm>
          <a:prstGeom prst="rightArrow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370332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Digitalisation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1546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A7D2B"/>
                </a:solidFill>
                <a:latin typeface="Calibri"/>
              </a:rPr>
              <a:t>Application mobile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2331720"/>
            <a:ext cx="4023360" cy="3931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2468880"/>
            <a:ext cx="4023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Aujourd'hui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063240"/>
            <a:ext cx="4023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Calibri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20624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+  Scan QR / code-barres instantané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+  Photo &amp; reconnaissance par IA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+  Saisie &amp; validation en un geste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+  Export Excel / PDF immédiat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Présentation de CF Consult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4</a:t>
            </a:r>
          </a:p>
        </p:txBody>
      </p:sp>
      <p:pic>
        <p:nvPicPr>
          <p:cNvPr id="7" name="Picture 6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760" y="1280160"/>
            <a:ext cx="2561359" cy="1325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788920"/>
            <a:ext cx="3474720" cy="338328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Audit &amp; commissariat aux comptes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Expertise comptable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Conseil &amp; ingénierie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Digitalisation des SI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Gestion des immobilisations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Formation &amp; recrutement</a:t>
            </a:r>
          </a:p>
        </p:txBody>
      </p:sp>
      <p:pic>
        <p:nvPicPr>
          <p:cNvPr id="10" name="Picture 9" descr="p17_1_1400x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852" y="1234440"/>
            <a:ext cx="6154615" cy="2286000"/>
          </a:xfrm>
          <a:prstGeom prst="rect">
            <a:avLst/>
          </a:prstGeom>
        </p:spPr>
      </p:pic>
      <p:pic>
        <p:nvPicPr>
          <p:cNvPr id="11" name="Picture 10" descr="p18_1_1400x1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3566160"/>
            <a:ext cx="30632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Objectifs du projet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40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40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Authentification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40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Login JWT</a:t>
            </a:r>
          </a:p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Agent &amp; 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536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36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266F8E"/>
                </a:solidFill>
                <a:latin typeface="Calibri"/>
              </a:rPr>
              <a:t>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536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B344A"/>
                </a:solidFill>
                <a:latin typeface="Calibri"/>
              </a:rPr>
              <a:t>Import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536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Fichier Excel</a:t>
            </a:r>
          </a:p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comptable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132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132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132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Scan &amp; 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132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QR code,</a:t>
            </a:r>
          </a:p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code-barres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266F8E"/>
                </a:solidFill>
                <a:latin typeface="Calibr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B344A"/>
                </a:solidFill>
                <a:latin typeface="Calibri"/>
              </a:rPr>
              <a:t>IA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728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Reconnaissance</a:t>
            </a:r>
          </a:p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d'objets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324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24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324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Tableau de bord</a:t>
            </a:r>
          </a:p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admin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1920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1920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266F8E"/>
                </a:solidFill>
                <a:latin typeface="Calibri"/>
              </a:rPr>
              <a:t>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1920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B344A"/>
                </a:solidFill>
                <a:latin typeface="Calibri"/>
              </a:rPr>
              <a:t>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920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Excel &amp; PDF</a:t>
            </a:r>
          </a:p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instantané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989320"/>
            <a:ext cx="10881360" cy="640080"/>
          </a:xfrm>
          <a:prstGeom prst="roundRect">
            <a:avLst>
              <a:gd name="adj" fmla="val 5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6016752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997700"/>
                </a:solidFill>
                <a:latin typeface="Calibri"/>
              </a:rPr>
              <a:t>💡 Napkin : 6 feature icons connected to a mobile phone — Login, QR Scan, AI recognition, Photo, Dashboard, Export — clean flat style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Gestion du projet — Diagramme de Gantt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p28_0_2283x6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76588"/>
            <a:ext cx="11430000" cy="32192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Conception UML — Cas d'utilisation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p33_0_775x13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0501" y="1097280"/>
            <a:ext cx="3294836" cy="5577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7160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66F8E"/>
                </a:solidFill>
                <a:latin typeface="Calibri"/>
              </a:rPr>
              <a:t>Acteurs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Agent d'inventaire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Administrateur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66F8E"/>
                </a:solidFill>
                <a:latin typeface="Calibri"/>
              </a:rPr>
              <a:t>Cas principaux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Se connecter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Scanner QR / CAB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Saisir &amp; valider un bien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Photographier &amp; IA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Exporter les rapports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Gérer les agents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1371600"/>
            <a:ext cx="45720" cy="512064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Conception UML — Diagramme de classes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p35_0_830x9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897" y="1143000"/>
            <a:ext cx="503172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Technologies utilisées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pic>
        <p:nvPicPr>
          <p:cNvPr id="9" name="Picture 8" descr="p49_0_600x3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20836"/>
            <a:ext cx="1325880" cy="696087"/>
          </a:xfrm>
          <a:prstGeom prst="rect">
            <a:avLst/>
          </a:prstGeom>
        </p:spPr>
      </p:pic>
      <p:pic>
        <p:nvPicPr>
          <p:cNvPr id="10" name="Picture 9" descr="p49_1_800x5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2022224"/>
            <a:ext cx="1325880" cy="893311"/>
          </a:xfrm>
          <a:prstGeom prst="rect">
            <a:avLst/>
          </a:prstGeom>
        </p:spPr>
      </p:pic>
      <p:pic>
        <p:nvPicPr>
          <p:cNvPr id="11" name="Picture 10" descr="p50_0_379x5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17" y="4160520"/>
            <a:ext cx="920646" cy="1280160"/>
          </a:xfrm>
          <a:prstGeom prst="rect">
            <a:avLst/>
          </a:prstGeom>
        </p:spPr>
      </p:pic>
      <p:pic>
        <p:nvPicPr>
          <p:cNvPr id="12" name="Picture 11" descr="p50_1_1000x6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0" y="4402836"/>
            <a:ext cx="1325880" cy="795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56432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Base de données</a:t>
            </a:r>
          </a:p>
        </p:txBody>
      </p:sp>
      <p:pic>
        <p:nvPicPr>
          <p:cNvPr id="15" name="Picture 14" descr="p53_0_610x28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6432" y="2164580"/>
            <a:ext cx="1325880" cy="6086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55664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1B3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pic>
        <p:nvPicPr>
          <p:cNvPr id="18" name="Picture 17" descr="p54_0_512x5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8524" y="1828800"/>
            <a:ext cx="1280160" cy="1280160"/>
          </a:xfrm>
          <a:prstGeom prst="rect">
            <a:avLst/>
          </a:prstGeom>
        </p:spPr>
      </p:pic>
      <p:pic>
        <p:nvPicPr>
          <p:cNvPr id="19" name="Picture 18" descr="p55_0_150x1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0124" y="1828800"/>
            <a:ext cx="1280160" cy="1280160"/>
          </a:xfrm>
          <a:prstGeom prst="rect">
            <a:avLst/>
          </a:prstGeom>
        </p:spPr>
      </p:pic>
      <p:pic>
        <p:nvPicPr>
          <p:cNvPr id="20" name="Picture 19" descr="p56_1_670x40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5664" y="4402836"/>
            <a:ext cx="1325880" cy="79552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454896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4896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IA &amp; Outils</a:t>
            </a:r>
          </a:p>
        </p:txBody>
      </p:sp>
      <p:pic>
        <p:nvPicPr>
          <p:cNvPr id="23" name="Picture 22" descr="p52_0_739x41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54896" y="2096593"/>
            <a:ext cx="1325880" cy="744574"/>
          </a:xfrm>
          <a:prstGeom prst="rect">
            <a:avLst/>
          </a:prstGeom>
        </p:spPr>
      </p:pic>
      <p:pic>
        <p:nvPicPr>
          <p:cNvPr id="24" name="Picture 23" descr="p53_1_480x48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49356" y="1828800"/>
            <a:ext cx="1280160" cy="1280160"/>
          </a:xfrm>
          <a:prstGeom prst="rect">
            <a:avLst/>
          </a:prstGeom>
        </p:spPr>
      </p:pic>
      <p:pic>
        <p:nvPicPr>
          <p:cNvPr id="25" name="Picture 24" descr="p54_1_554x55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77756" y="416052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Architecture du système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Architecture du système</a:t>
            </a:r>
          </a:p>
        </p:txBody>
      </p:sp>
      <p:pic>
        <p:nvPicPr>
          <p:cNvPr id="10" name="Picture 9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57200" y="1280160"/>
            <a:ext cx="2926080" cy="5120640"/>
          </a:xfrm>
          <a:prstGeom prst="roundRect">
            <a:avLst>
              <a:gd name="adj" fmla="val 5000"/>
            </a:avLst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B344A"/>
                </a:solidFill>
                <a:latin typeface="Calibri"/>
              </a:rPr>
              <a:t>📱  Application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Java natif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Login JWT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Scan QR / CAB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Photo + IA Gemini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Recherche &amp; validation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Export Excel / 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350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266F8E"/>
                </a:solidFill>
                <a:latin typeface="Calibri"/>
              </a:rPr>
              <a:t>Couche présentation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83280" y="2560320"/>
            <a:ext cx="1097280" cy="0"/>
          </a:xfrm>
          <a:prstGeom prst="line">
            <a:avLst/>
          </a:prstGeom>
          <a:ln w="20000">
            <a:solidFill>
              <a:srgbClr val="266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383280" y="3474720"/>
            <a:ext cx="1097280" cy="0"/>
          </a:xfrm>
          <a:prstGeom prst="line">
            <a:avLst/>
          </a:prstGeom>
          <a:ln w="20000">
            <a:solidFill>
              <a:srgbClr val="266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383280" y="228600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266F8E"/>
                </a:solidFill>
                <a:latin typeface="Calibri"/>
              </a:rPr>
              <a:t>HTTP REST / JSON 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20040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266F8E"/>
                </a:solidFill>
                <a:latin typeface="Calibri"/>
              </a:rPr>
              <a:t>◀ JSON Response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1280160"/>
            <a:ext cx="3291840" cy="512064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41732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⚙  Backend Spring Boot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01168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API REST / JSON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Spring Security + JWT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Controller → Service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Repository (JPA)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Import / Export Excel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Génération QR Code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Proxy API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03504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Couche métier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0" y="2560320"/>
            <a:ext cx="1005840" cy="0"/>
          </a:xfrm>
          <a:prstGeom prst="line">
            <a:avLst/>
          </a:prstGeom>
          <a:ln w="20000">
            <a:solidFill>
              <a:srgbClr val="5A7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72400" y="3474720"/>
            <a:ext cx="1005840" cy="0"/>
          </a:xfrm>
          <a:prstGeom prst="line">
            <a:avLst/>
          </a:prstGeom>
          <a:ln w="20000">
            <a:solidFill>
              <a:srgbClr val="5A7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0" y="228600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A7D2B"/>
                </a:solidFill>
                <a:latin typeface="Calibri"/>
              </a:rPr>
              <a:t>JDBC / JPA 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20040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A7D2B"/>
                </a:solidFill>
                <a:latin typeface="Calibri"/>
              </a:rPr>
              <a:t>◀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1280160"/>
            <a:ext cx="2926080" cy="51206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4173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B344A"/>
                </a:solidFill>
                <a:latin typeface="Calibri"/>
              </a:rPr>
              <a:t>🗄  PostgreSQL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0116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InventEquipement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InventAutres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Localisation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Agent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Etat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Activite (logs)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60350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A7D2B"/>
                </a:solidFill>
                <a:latin typeface="Calibri"/>
              </a:rPr>
              <a:t>Couche données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1298448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1298448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6A3D9A"/>
                </a:solidFill>
                <a:latin typeface="Calibri"/>
              </a:rPr>
              <a:t>🤖 Google Gemini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Interface Administrateur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Gestion des agents · Import · Tableau de bord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930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8483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70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381" y="1856231"/>
            <a:ext cx="1956998" cy="424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266F8E"/>
                </a:solidFill>
                <a:latin typeface="Calibri"/>
              </a:rPr>
              <a:t>Dashboard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0118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9671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66_1_738x1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261" y="1856231"/>
            <a:ext cx="1956998" cy="4242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0916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266F8E"/>
                </a:solidFill>
                <a:latin typeface="Calibri"/>
              </a:rPr>
              <a:t>Inventaire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1306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8116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0859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69_1_738x16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141" y="1856231"/>
            <a:ext cx="1956998" cy="42428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2104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266F8E"/>
                </a:solidFill>
                <a:latin typeface="Calibri"/>
              </a:rPr>
              <a:t>Export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Import fichier Excel comptable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Gestion des agents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Suivi des activités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Interface Agent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Login · Inventaire · Scan · Export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930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8483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65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381" y="1856231"/>
            <a:ext cx="1956998" cy="424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A7D2B"/>
                </a:solidFill>
                <a:latin typeface="Calibri"/>
              </a:rPr>
              <a:t>Vue principale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0118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9671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66_1_738x1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261" y="1856231"/>
            <a:ext cx="1956998" cy="4242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0916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A7D2B"/>
                </a:solidFill>
                <a:latin typeface="Calibri"/>
              </a:rPr>
              <a:t>Vue liste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1306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8116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0859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69_1_738x16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141" y="1856231"/>
            <a:ext cx="1956998" cy="42428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2104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A7D2B"/>
                </a:solidFill>
                <a:latin typeface="Calibri"/>
              </a:rPr>
              <a:t>Vue export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Connexion sécurisée JWT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Inventaire équipements &amp; autres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Scan QR / code-barres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Reconnaissance par IA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Photo → Gemini → Identification automatique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930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8483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68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381" y="1856231"/>
            <a:ext cx="1956998" cy="424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6A3D9A"/>
                </a:solidFill>
                <a:latin typeface="Calibri"/>
              </a:rPr>
              <a:t>Photo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0118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9671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64_1_738x1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261" y="1856231"/>
            <a:ext cx="1956998" cy="4242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0916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6A3D9A"/>
                </a:solidFill>
                <a:latin typeface="Calibri"/>
              </a:rPr>
              <a:t>Analyse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1306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8116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0859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68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141" y="1856231"/>
            <a:ext cx="1956998" cy="42428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2104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6A3D9A"/>
                </a:solidFill>
                <a:latin typeface="Calibri"/>
              </a:rPr>
              <a:t>Résultat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Photo via caméra ou galerie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Analyse Gemini 2.5 Flash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Champs pré-remplis automatiquement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Perspectives d'évolution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Mode hors-ligne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Synchronisation différée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quand le réseau revient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Étiquettes QR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Impression d'étiquettes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directement depuis l'app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Multi-sites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Gestion de plusieurs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entreprises et sites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Analytics avancés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Tableaux de bord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statistiques &amp; KPIs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48640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55955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997700"/>
                </a:solidFill>
                <a:latin typeface="Calibri"/>
              </a:rPr>
              <a:t>💡 Napkin : 4 futuristic roadmap cards going upward — Offline mode, QR labels, Multi-site, Analytics dashboard — connected by a glowing timeline, blue-green gradient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966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1B344A"/>
                </a:solidFill>
                <a:latin typeface="Calibri"/>
              </a:rPr>
              <a:t>Ce stage m'a permis de concevoir et développer, de A à Z, une solution complète de gestion d'inventaire physique combinant un backend Spring Boot sécurisé, une application Android native et une intelligence artificielle de reconnaissance d'objets.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063240"/>
            <a:ext cx="9966960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9184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266F8E"/>
                </a:solidFill>
                <a:latin typeface="Calibri"/>
              </a:rPr>
              <a:t>•  Maîtrise de l'architecture trois tiers (Android · REST · PostgreSQL)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266F8E"/>
                </a:solidFill>
                <a:latin typeface="Calibri"/>
              </a:rPr>
              <a:t>•  Intégration d'une IA dans une solution métier réelle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266F8E"/>
                </a:solidFill>
                <a:latin typeface="Calibri"/>
              </a:rPr>
              <a:t>•  Gestion complète d'un projet informatique sur 6 semaines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9966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1B344A"/>
                </a:solidFill>
                <a:latin typeface="Calibri"/>
              </a:rPr>
              <a:t>Une expérience enrichissante qui a transformé un processus manuel et faillible en un outil mobile moderne, rapide et intelligent.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9144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34840"/>
            <a:ext cx="12191695" cy="91440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>
                <a:solidFill>
                  <a:srgbClr val="266F8E"/>
                </a:solidFill>
                <a:latin typeface="Calibri"/>
              </a:rPr>
              <a:t>Avez-vous des 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8899AA"/>
                </a:solidFill>
                <a:latin typeface="Calibri"/>
              </a:rPr>
              <a:t>Kenza FOUDALI  ·  CF Consult  ·  2025 /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