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73152" cy="6858000"/>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01_0_720x720.png"/>
          <p:cNvPicPr>
            <a:picLocks noChangeAspect="1"/>
          </p:cNvPicPr>
          <p:nvPr/>
        </p:nvPicPr>
        <p:blipFill>
          <a:blip r:embed="rId2"/>
          <a:stretch>
            <a:fillRect/>
          </a:stretch>
        </p:blipFill>
        <p:spPr>
          <a:xfrm>
            <a:off x="1188720" y="274320"/>
            <a:ext cx="1371600" cy="1371600"/>
          </a:xfrm>
          <a:prstGeom prst="rect">
            <a:avLst/>
          </a:prstGeom>
        </p:spPr>
      </p:pic>
      <p:pic>
        <p:nvPicPr>
          <p:cNvPr id="5" name="Picture 4" descr="p01_1_225x225.png"/>
          <p:cNvPicPr>
            <a:picLocks noChangeAspect="1"/>
          </p:cNvPicPr>
          <p:nvPr/>
        </p:nvPicPr>
        <p:blipFill>
          <a:blip r:embed="rId3"/>
          <a:stretch>
            <a:fillRect/>
          </a:stretch>
        </p:blipFill>
        <p:spPr>
          <a:xfrm>
            <a:off x="5440680" y="365760"/>
            <a:ext cx="1280160" cy="1280160"/>
          </a:xfrm>
          <a:prstGeom prst="rect">
            <a:avLst/>
          </a:prstGeom>
        </p:spPr>
      </p:pic>
      <p:pic>
        <p:nvPicPr>
          <p:cNvPr id="6" name="Picture 5" descr="p01_2_927x432.png"/>
          <p:cNvPicPr>
            <a:picLocks noChangeAspect="1"/>
          </p:cNvPicPr>
          <p:nvPr/>
        </p:nvPicPr>
        <p:blipFill>
          <a:blip r:embed="rId4"/>
          <a:stretch>
            <a:fillRect/>
          </a:stretch>
        </p:blipFill>
        <p:spPr>
          <a:xfrm>
            <a:off x="8979217" y="502920"/>
            <a:ext cx="2158365" cy="1005840"/>
          </a:xfrm>
          <a:prstGeom prst="rect">
            <a:avLst/>
          </a:prstGeom>
        </p:spPr>
      </p:pic>
      <p:sp>
        <p:nvSpPr>
          <p:cNvPr id="7" name="TextBox 6"/>
          <p:cNvSpPr txBox="1"/>
          <p:nvPr/>
        </p:nvSpPr>
        <p:spPr>
          <a:xfrm>
            <a:off x="914400" y="1874519"/>
            <a:ext cx="10515600" cy="457200"/>
          </a:xfrm>
          <a:prstGeom prst="rect">
            <a:avLst/>
          </a:prstGeom>
          <a:noFill/>
        </p:spPr>
        <p:txBody>
          <a:bodyPr wrap="square" anchor="t">
            <a:spAutoFit/>
          </a:bodyPr>
          <a:lstStyle/>
          <a:p>
            <a:pPr algn="ctr"/>
            <a:r>
              <a:rPr sz="1500" b="1" i="0">
                <a:solidFill>
                  <a:srgbClr val="266F8E"/>
                </a:solidFill>
                <a:latin typeface="Calibri"/>
              </a:rPr>
              <a:t>RAPPORT DE STAGE — SOUTENANCE</a:t>
            </a:r>
          </a:p>
        </p:txBody>
      </p:sp>
      <p:sp>
        <p:nvSpPr>
          <p:cNvPr id="8" name="TextBox 7"/>
          <p:cNvSpPr txBox="1"/>
          <p:nvPr/>
        </p:nvSpPr>
        <p:spPr>
          <a:xfrm>
            <a:off x="914400" y="2331720"/>
            <a:ext cx="10515600" cy="1280160"/>
          </a:xfrm>
          <a:prstGeom prst="rect">
            <a:avLst/>
          </a:prstGeom>
          <a:noFill/>
        </p:spPr>
        <p:txBody>
          <a:bodyPr wrap="square" anchor="t">
            <a:spAutoFit/>
          </a:bodyPr>
          <a:lstStyle/>
          <a:p>
            <a:pPr algn="ctr"/>
            <a:r>
              <a:rPr sz="2900" b="1" i="0">
                <a:solidFill>
                  <a:srgbClr val="1B344A"/>
                </a:solidFill>
                <a:latin typeface="Calibri"/>
              </a:rPr>
              <a:t>Conception et Développement d'une Application Android</a:t>
            </a:r>
          </a:p>
          <a:p>
            <a:pPr algn="ctr"/>
            <a:r>
              <a:rPr sz="2900" b="1" i="0">
                <a:solidFill>
                  <a:srgbClr val="1B344A"/>
                </a:solidFill>
                <a:latin typeface="Calibri"/>
              </a:rPr>
              <a:t>Intelligente pour la Gestion de l'Inventaire Physique</a:t>
            </a:r>
          </a:p>
        </p:txBody>
      </p:sp>
      <p:pic>
        <p:nvPicPr>
          <p:cNvPr id="9" name="Picture 8" descr="p01_3_340x176.png"/>
          <p:cNvPicPr>
            <a:picLocks noChangeAspect="1"/>
          </p:cNvPicPr>
          <p:nvPr/>
        </p:nvPicPr>
        <p:blipFill>
          <a:blip r:embed="rId5"/>
          <a:stretch>
            <a:fillRect/>
          </a:stretch>
        </p:blipFill>
        <p:spPr>
          <a:xfrm>
            <a:off x="5241694" y="3703320"/>
            <a:ext cx="1678131" cy="868680"/>
          </a:xfrm>
          <a:prstGeom prst="rect">
            <a:avLst/>
          </a:prstGeom>
        </p:spPr>
      </p:pic>
      <p:sp>
        <p:nvSpPr>
          <p:cNvPr id="10" name="TextBox 9"/>
          <p:cNvSpPr txBox="1"/>
          <p:nvPr/>
        </p:nvSpPr>
        <p:spPr>
          <a:xfrm>
            <a:off x="914400" y="4572000"/>
            <a:ext cx="10515600" cy="457200"/>
          </a:xfrm>
          <a:prstGeom prst="rect">
            <a:avLst/>
          </a:prstGeom>
          <a:noFill/>
        </p:spPr>
        <p:txBody>
          <a:bodyPr wrap="square" anchor="t">
            <a:spAutoFit/>
          </a:bodyPr>
          <a:lstStyle/>
          <a:p>
            <a:pPr algn="ctr"/>
            <a:r>
              <a:rPr sz="1500" b="0" i="1">
                <a:solidFill>
                  <a:srgbClr val="556670"/>
                </a:solidFill>
                <a:latin typeface="Calibri"/>
              </a:rPr>
              <a:t>Audit, Ingénierie en Consulting et Formation — Casablanca</a:t>
            </a:r>
          </a:p>
        </p:txBody>
      </p:sp>
      <p:sp>
        <p:nvSpPr>
          <p:cNvPr id="11" name="Rectangle 10"/>
          <p:cNvSpPr/>
          <p:nvPr/>
        </p:nvSpPr>
        <p:spPr>
          <a:xfrm>
            <a:off x="1645920" y="5212080"/>
            <a:ext cx="8869680" cy="105156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11680" y="5321808"/>
            <a:ext cx="4572000" cy="914400"/>
          </a:xfrm>
          <a:prstGeom prst="rect">
            <a:avLst/>
          </a:prstGeom>
          <a:noFill/>
        </p:spPr>
        <p:txBody>
          <a:bodyPr wrap="square" anchor="t">
            <a:spAutoFit/>
          </a:bodyPr>
          <a:lstStyle/>
          <a:p>
            <a:pPr algn="l"/>
            <a:r>
              <a:rPr sz="1500" b="1" i="0">
                <a:solidFill>
                  <a:srgbClr val="1B344A"/>
                </a:solidFill>
                <a:latin typeface="Calibri"/>
              </a:rPr>
              <a:t>Réalisé par :</a:t>
            </a:r>
          </a:p>
          <a:p>
            <a:pPr algn="l"/>
            <a:r>
              <a:rPr sz="1500" b="1" i="0">
                <a:solidFill>
                  <a:srgbClr val="1B344A"/>
                </a:solidFill>
                <a:latin typeface="Calibri"/>
              </a:rPr>
              <a:t>Kenza FOUDALI</a:t>
            </a:r>
          </a:p>
        </p:txBody>
      </p:sp>
      <p:sp>
        <p:nvSpPr>
          <p:cNvPr id="13" name="TextBox 12"/>
          <p:cNvSpPr txBox="1"/>
          <p:nvPr/>
        </p:nvSpPr>
        <p:spPr>
          <a:xfrm>
            <a:off x="6309360" y="5321808"/>
            <a:ext cx="4114800" cy="914400"/>
          </a:xfrm>
          <a:prstGeom prst="rect">
            <a:avLst/>
          </a:prstGeom>
          <a:noFill/>
        </p:spPr>
        <p:txBody>
          <a:bodyPr wrap="square" anchor="t">
            <a:spAutoFit/>
          </a:bodyPr>
          <a:lstStyle/>
          <a:p>
            <a:pPr algn="l"/>
            <a:r>
              <a:rPr sz="1500" b="1" i="0">
                <a:solidFill>
                  <a:srgbClr val="1B344A"/>
                </a:solidFill>
                <a:latin typeface="Calibri"/>
              </a:rPr>
              <a:t>Encadrante :</a:t>
            </a:r>
          </a:p>
          <a:p>
            <a:pPr algn="l"/>
            <a:r>
              <a:rPr sz="1500" b="1" i="0">
                <a:solidFill>
                  <a:srgbClr val="1B344A"/>
                </a:solidFill>
                <a:latin typeface="Calibri"/>
              </a:rPr>
              <a:t>Mme Laila MAADIR</a:t>
            </a:r>
          </a:p>
        </p:txBody>
      </p:sp>
      <p:sp>
        <p:nvSpPr>
          <p:cNvPr id="14" name="TextBox 13"/>
          <p:cNvSpPr txBox="1"/>
          <p:nvPr/>
        </p:nvSpPr>
        <p:spPr>
          <a:xfrm>
            <a:off x="914400" y="6355080"/>
            <a:ext cx="10515600" cy="365760"/>
          </a:xfrm>
          <a:prstGeom prst="rect">
            <a:avLst/>
          </a:prstGeom>
          <a:noFill/>
        </p:spPr>
        <p:txBody>
          <a:bodyPr wrap="square" anchor="t">
            <a:spAutoFit/>
          </a:bodyPr>
          <a:lstStyle/>
          <a:p>
            <a:pPr algn="ctr"/>
            <a:r>
              <a:rPr sz="1200" b="0" i="0">
                <a:solidFill>
                  <a:srgbClr val="556670"/>
                </a:solidFill>
                <a:latin typeface="Calibri"/>
              </a:rPr>
              <a:t>Année Universitaire 2025 / 2026   ·   du 04 mai au 13 juin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Plan de la présentation</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2</a:t>
            </a:r>
          </a:p>
        </p:txBody>
      </p:sp>
      <p:sp>
        <p:nvSpPr>
          <p:cNvPr id="7" name="Rectangle 6"/>
          <p:cNvSpPr/>
          <p:nvPr/>
        </p:nvSpPr>
        <p:spPr>
          <a:xfrm>
            <a:off x="1097280" y="1463040"/>
            <a:ext cx="109728" cy="4754880"/>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1600200"/>
            <a:ext cx="9601200" cy="4754880"/>
          </a:xfrm>
          <a:prstGeom prst="rect">
            <a:avLst/>
          </a:prstGeom>
          <a:noFill/>
        </p:spPr>
        <p:txBody>
          <a:bodyPr wrap="square">
            <a:spAutoFit/>
          </a:bodyPr>
          <a:lstStyle/>
          <a:p>
            <a:pPr>
              <a:spcAft>
                <a:spcPts val="1300"/>
              </a:spcAft>
            </a:pPr>
            <a:r>
              <a:rPr sz="2000">
                <a:solidFill>
                  <a:srgbClr val="1B344A"/>
                </a:solidFill>
                <a:latin typeface="Calibri"/>
              </a:rPr>
              <a:t>•  1.  Présentation de l'entreprise &amp; cadre du stage</a:t>
            </a:r>
          </a:p>
          <a:p>
            <a:pPr>
              <a:spcAft>
                <a:spcPts val="1300"/>
              </a:spcAft>
            </a:pPr>
            <a:r>
              <a:rPr sz="2000">
                <a:solidFill>
                  <a:srgbClr val="1B344A"/>
                </a:solidFill>
                <a:latin typeface="Calibri"/>
              </a:rPr>
              <a:t>•  2.  Problématique &amp; objectifs du projet</a:t>
            </a:r>
          </a:p>
          <a:p>
            <a:pPr>
              <a:spcAft>
                <a:spcPts val="1300"/>
              </a:spcAft>
            </a:pPr>
            <a:r>
              <a:rPr sz="2000">
                <a:solidFill>
                  <a:srgbClr val="1B344A"/>
                </a:solidFill>
                <a:latin typeface="Calibri"/>
              </a:rPr>
              <a:t>•  3.  Déroulement &amp; planification (Gantt / PERT)</a:t>
            </a:r>
          </a:p>
          <a:p>
            <a:pPr>
              <a:spcAft>
                <a:spcPts val="1300"/>
              </a:spcAft>
            </a:pPr>
            <a:r>
              <a:rPr sz="2000">
                <a:solidFill>
                  <a:srgbClr val="1B344A"/>
                </a:solidFill>
                <a:latin typeface="Calibri"/>
              </a:rPr>
              <a:t>•  4.  Conception &amp; modélisation UML</a:t>
            </a:r>
          </a:p>
          <a:p>
            <a:pPr>
              <a:spcAft>
                <a:spcPts val="1300"/>
              </a:spcAft>
            </a:pPr>
            <a:r>
              <a:rPr sz="2000">
                <a:solidFill>
                  <a:srgbClr val="1B344A"/>
                </a:solidFill>
                <a:latin typeface="Calibri"/>
              </a:rPr>
              <a:t>•  5.  Architecture du système</a:t>
            </a:r>
          </a:p>
          <a:p>
            <a:pPr>
              <a:spcAft>
                <a:spcPts val="1300"/>
              </a:spcAft>
            </a:pPr>
            <a:r>
              <a:rPr sz="2000">
                <a:solidFill>
                  <a:srgbClr val="1B344A"/>
                </a:solidFill>
                <a:latin typeface="Calibri"/>
              </a:rPr>
              <a:t>•  6.  Technologies utilisées</a:t>
            </a:r>
          </a:p>
          <a:p>
            <a:pPr>
              <a:spcAft>
                <a:spcPts val="1300"/>
              </a:spcAft>
            </a:pPr>
            <a:r>
              <a:rPr sz="2000">
                <a:solidFill>
                  <a:srgbClr val="1B344A"/>
                </a:solidFill>
                <a:latin typeface="Calibri"/>
              </a:rPr>
              <a:t>•  7.  Réalisation &amp; démonstration de l'application</a:t>
            </a:r>
          </a:p>
          <a:p>
            <a:pPr>
              <a:spcAft>
                <a:spcPts val="1300"/>
              </a:spcAft>
            </a:pPr>
            <a:r>
              <a:rPr sz="2000">
                <a:solidFill>
                  <a:srgbClr val="1B344A"/>
                </a:solidFill>
                <a:latin typeface="Calibri"/>
              </a:rPr>
              <a:t>•  8.  Bilan, difficultés &amp; perspectives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Introduction &amp; contexte</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3</a:t>
            </a:r>
          </a:p>
        </p:txBody>
      </p:sp>
      <p:sp>
        <p:nvSpPr>
          <p:cNvPr id="7" name="TextBox 6"/>
          <p:cNvSpPr txBox="1"/>
          <p:nvPr/>
        </p:nvSpPr>
        <p:spPr>
          <a:xfrm>
            <a:off x="640080" y="1234440"/>
            <a:ext cx="10881360" cy="1280160"/>
          </a:xfrm>
          <a:prstGeom prst="rect">
            <a:avLst/>
          </a:prstGeom>
          <a:noFill/>
        </p:spPr>
        <p:txBody>
          <a:bodyPr wrap="square" anchor="t">
            <a:spAutoFit/>
          </a:bodyPr>
          <a:lstStyle/>
          <a:p>
            <a:pPr algn="l"/>
            <a:r>
              <a:rPr sz="1700" b="0" i="0">
                <a:solidFill>
                  <a:srgbClr val="1B344A"/>
                </a:solidFill>
                <a:latin typeface="Calibri"/>
              </a:rPr>
              <a:t>La gestion de l'inventaire physique des immobilisations est une mission essentielle du métier d'audit de CF Consult. Réalisée manuellement (saisie Excel, pointage papier), elle reste lente, source d'erreurs et difficile à tracer.</a:t>
            </a:r>
          </a:p>
        </p:txBody>
      </p:sp>
      <p:sp>
        <p:nvSpPr>
          <p:cNvPr id="8" name="Rectangle 7"/>
          <p:cNvSpPr/>
          <p:nvPr/>
        </p:nvSpPr>
        <p:spPr>
          <a:xfrm>
            <a:off x="640080" y="2743200"/>
            <a:ext cx="5303520" cy="338328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26080"/>
            <a:ext cx="4846320" cy="457200"/>
          </a:xfrm>
          <a:prstGeom prst="rect">
            <a:avLst/>
          </a:prstGeom>
          <a:noFill/>
        </p:spPr>
        <p:txBody>
          <a:bodyPr wrap="square" anchor="t">
            <a:spAutoFit/>
          </a:bodyPr>
          <a:lstStyle/>
          <a:p>
            <a:pPr algn="l"/>
            <a:r>
              <a:rPr sz="1800" b="1" i="0">
                <a:solidFill>
                  <a:srgbClr val="266F8E"/>
                </a:solidFill>
                <a:latin typeface="Calibri"/>
              </a:rPr>
              <a:t>Problèmes actuels</a:t>
            </a:r>
          </a:p>
        </p:txBody>
      </p:sp>
      <p:sp>
        <p:nvSpPr>
          <p:cNvPr id="10" name="TextBox 9"/>
          <p:cNvSpPr txBox="1"/>
          <p:nvPr/>
        </p:nvSpPr>
        <p:spPr>
          <a:xfrm>
            <a:off x="914400" y="3474720"/>
            <a:ext cx="4846320" cy="2560320"/>
          </a:xfrm>
          <a:prstGeom prst="rect">
            <a:avLst/>
          </a:prstGeom>
          <a:noFill/>
        </p:spPr>
        <p:txBody>
          <a:bodyPr wrap="square">
            <a:spAutoFit/>
          </a:bodyPr>
          <a:lstStyle/>
          <a:p>
            <a:pPr>
              <a:spcAft>
                <a:spcPts val="1100"/>
              </a:spcAft>
            </a:pPr>
            <a:r>
              <a:rPr sz="1500">
                <a:solidFill>
                  <a:srgbClr val="1B344A"/>
                </a:solidFill>
                <a:latin typeface="Calibri"/>
              </a:rPr>
              <a:t>•  Saisie manuelle longue et fastidieuse</a:t>
            </a:r>
          </a:p>
          <a:p>
            <a:pPr>
              <a:spcAft>
                <a:spcPts val="1100"/>
              </a:spcAft>
            </a:pPr>
            <a:r>
              <a:rPr sz="1500">
                <a:solidFill>
                  <a:srgbClr val="1B344A"/>
                </a:solidFill>
                <a:latin typeface="Calibri"/>
              </a:rPr>
              <a:t>•  Risque d'erreurs et de doublons</a:t>
            </a:r>
          </a:p>
          <a:p>
            <a:pPr>
              <a:spcAft>
                <a:spcPts val="1100"/>
              </a:spcAft>
            </a:pPr>
            <a:r>
              <a:rPr sz="1500">
                <a:solidFill>
                  <a:srgbClr val="1B344A"/>
                </a:solidFill>
                <a:latin typeface="Calibri"/>
              </a:rPr>
              <a:t>•  Aucun suivi en temps réel</a:t>
            </a:r>
          </a:p>
          <a:p>
            <a:pPr>
              <a:spcAft>
                <a:spcPts val="1100"/>
              </a:spcAft>
            </a:pPr>
            <a:r>
              <a:rPr sz="1500">
                <a:solidFill>
                  <a:srgbClr val="1B344A"/>
                </a:solidFill>
                <a:latin typeface="Calibri"/>
              </a:rPr>
              <a:t>•  Pas de responsabilisation par agent</a:t>
            </a:r>
          </a:p>
          <a:p>
            <a:pPr>
              <a:spcAft>
                <a:spcPts val="1100"/>
              </a:spcAft>
            </a:pPr>
            <a:r>
              <a:rPr sz="1500">
                <a:solidFill>
                  <a:srgbClr val="1B344A"/>
                </a:solidFill>
                <a:latin typeface="Calibri"/>
              </a:rPr>
              <a:t>•  Absence de preuve photo des biens</a:t>
            </a:r>
          </a:p>
        </p:txBody>
      </p:sp>
      <p:sp>
        <p:nvSpPr>
          <p:cNvPr id="11" name="Rectangle 10"/>
          <p:cNvSpPr/>
          <p:nvPr/>
        </p:nvSpPr>
        <p:spPr>
          <a:xfrm>
            <a:off x="6217920" y="2743200"/>
            <a:ext cx="5303520" cy="338328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926080"/>
            <a:ext cx="4846320" cy="457200"/>
          </a:xfrm>
          <a:prstGeom prst="rect">
            <a:avLst/>
          </a:prstGeom>
          <a:noFill/>
        </p:spPr>
        <p:txBody>
          <a:bodyPr wrap="square" anchor="t">
            <a:spAutoFit/>
          </a:bodyPr>
          <a:lstStyle/>
          <a:p>
            <a:pPr algn="l"/>
            <a:r>
              <a:rPr sz="1800" b="1" i="0">
                <a:solidFill>
                  <a:srgbClr val="FFFFFF"/>
                </a:solidFill>
                <a:latin typeface="Calibri"/>
              </a:rPr>
              <a:t>Solution proposée</a:t>
            </a:r>
          </a:p>
        </p:txBody>
      </p:sp>
      <p:sp>
        <p:nvSpPr>
          <p:cNvPr id="13" name="TextBox 12"/>
          <p:cNvSpPr txBox="1"/>
          <p:nvPr/>
        </p:nvSpPr>
        <p:spPr>
          <a:xfrm>
            <a:off x="6492240" y="3474720"/>
            <a:ext cx="4846320" cy="2560320"/>
          </a:xfrm>
          <a:prstGeom prst="rect">
            <a:avLst/>
          </a:prstGeom>
          <a:noFill/>
        </p:spPr>
        <p:txBody>
          <a:bodyPr wrap="square">
            <a:spAutoFit/>
          </a:bodyPr>
          <a:lstStyle/>
          <a:p>
            <a:pPr>
              <a:spcAft>
                <a:spcPts val="1100"/>
              </a:spcAft>
            </a:pPr>
            <a:r>
              <a:rPr sz="1500">
                <a:solidFill>
                  <a:srgbClr val="FFFFFF"/>
                </a:solidFill>
                <a:latin typeface="Calibri"/>
              </a:rPr>
              <a:t>•  Application mobile Android native</a:t>
            </a:r>
          </a:p>
          <a:p>
            <a:pPr>
              <a:spcAft>
                <a:spcPts val="1100"/>
              </a:spcAft>
            </a:pPr>
            <a:r>
              <a:rPr sz="1500">
                <a:solidFill>
                  <a:srgbClr val="FFFFFF"/>
                </a:solidFill>
                <a:latin typeface="Calibri"/>
              </a:rPr>
              <a:t>•  Scan QR code &amp; code-barres (ZXing)</a:t>
            </a:r>
          </a:p>
          <a:p>
            <a:pPr>
              <a:spcAft>
                <a:spcPts val="1100"/>
              </a:spcAft>
            </a:pPr>
            <a:r>
              <a:rPr sz="1500">
                <a:solidFill>
                  <a:srgbClr val="FFFFFF"/>
                </a:solidFill>
                <a:latin typeface="Calibri"/>
              </a:rPr>
              <a:t>•  Reconnaissance d'objet par IA (Gemini)</a:t>
            </a:r>
          </a:p>
          <a:p>
            <a:pPr>
              <a:spcAft>
                <a:spcPts val="1100"/>
              </a:spcAft>
            </a:pPr>
            <a:r>
              <a:rPr sz="1500">
                <a:solidFill>
                  <a:srgbClr val="FFFFFF"/>
                </a:solidFill>
                <a:latin typeface="Calibri"/>
              </a:rPr>
              <a:t>•  Photo &amp; validation des biens</a:t>
            </a:r>
          </a:p>
          <a:p>
            <a:pPr>
              <a:spcAft>
                <a:spcPts val="1100"/>
              </a:spcAft>
            </a:pPr>
            <a:r>
              <a:rPr sz="1500">
                <a:solidFill>
                  <a:srgbClr val="FFFFFF"/>
                </a:solidFill>
                <a:latin typeface="Calibri"/>
              </a:rPr>
              <a:t>•  Export Excel / PDF &amp; tableau de bord admin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Présentation de CF Consult</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4</a:t>
            </a:r>
          </a:p>
        </p:txBody>
      </p:sp>
      <p:pic>
        <p:nvPicPr>
          <p:cNvPr id="7" name="Picture 6" descr="p01_3_340x176.png"/>
          <p:cNvPicPr>
            <a:picLocks noChangeAspect="1"/>
          </p:cNvPicPr>
          <p:nvPr/>
        </p:nvPicPr>
        <p:blipFill>
          <a:blip r:embed="rId2"/>
          <a:stretch>
            <a:fillRect/>
          </a:stretch>
        </p:blipFill>
        <p:spPr>
          <a:xfrm>
            <a:off x="1235479" y="1325880"/>
            <a:ext cx="2649681" cy="1371600"/>
          </a:xfrm>
          <a:prstGeom prst="rect">
            <a:avLst/>
          </a:prstGeom>
        </p:spPr>
      </p:pic>
      <p:sp>
        <p:nvSpPr>
          <p:cNvPr id="8" name="Rectangle 7"/>
          <p:cNvSpPr/>
          <p:nvPr/>
        </p:nvSpPr>
        <p:spPr>
          <a:xfrm>
            <a:off x="731520" y="2926080"/>
            <a:ext cx="3840480" cy="5029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26080"/>
            <a:ext cx="3657600" cy="502920"/>
          </a:xfrm>
          <a:prstGeom prst="rect">
            <a:avLst/>
          </a:prstGeom>
          <a:noFill/>
        </p:spPr>
        <p:txBody>
          <a:bodyPr wrap="square" anchor="ctr">
            <a:spAutoFit/>
          </a:bodyPr>
          <a:lstStyle/>
          <a:p>
            <a:pPr algn="l"/>
            <a:r>
              <a:rPr sz="1600" b="1" i="0">
                <a:solidFill>
                  <a:srgbClr val="FFFFFF"/>
                </a:solidFill>
                <a:latin typeface="Calibri"/>
              </a:rPr>
              <a:t>Fiche d'identité</a:t>
            </a:r>
          </a:p>
        </p:txBody>
      </p:sp>
      <p:sp>
        <p:nvSpPr>
          <p:cNvPr id="10" name="TextBox 9"/>
          <p:cNvSpPr txBox="1"/>
          <p:nvPr/>
        </p:nvSpPr>
        <p:spPr>
          <a:xfrm>
            <a:off x="822960" y="3611880"/>
            <a:ext cx="3931920" cy="2560320"/>
          </a:xfrm>
          <a:prstGeom prst="rect">
            <a:avLst/>
          </a:prstGeom>
          <a:noFill/>
        </p:spPr>
        <p:txBody>
          <a:bodyPr wrap="square">
            <a:spAutoFit/>
          </a:bodyPr>
          <a:lstStyle/>
          <a:p>
            <a:pPr>
              <a:spcAft>
                <a:spcPts val="900"/>
              </a:spcAft>
            </a:pPr>
            <a:r>
              <a:rPr sz="1400">
                <a:solidFill>
                  <a:srgbClr val="1B344A"/>
                </a:solidFill>
                <a:latin typeface="Calibri"/>
              </a:rPr>
              <a:t>•  Activité : Audit, Ingénierie,</a:t>
            </a:r>
          </a:p>
          <a:p>
            <a:pPr>
              <a:spcAft>
                <a:spcPts val="900"/>
              </a:spcAft>
            </a:pPr>
            <a:r>
              <a:rPr sz="1400">
                <a:solidFill>
                  <a:srgbClr val="1B344A"/>
                </a:solidFill>
                <a:latin typeface="Calibri"/>
              </a:rPr>
              <a:t>•      Consulting &amp; Formation</a:t>
            </a:r>
          </a:p>
          <a:p>
            <a:pPr>
              <a:spcAft>
                <a:spcPts val="900"/>
              </a:spcAft>
            </a:pPr>
            <a:r>
              <a:rPr sz="1400">
                <a:solidFill>
                  <a:srgbClr val="1B344A"/>
                </a:solidFill>
                <a:latin typeface="Calibri"/>
              </a:rPr>
              <a:t>•  Siège : Casablanca, Maroc</a:t>
            </a:r>
          </a:p>
          <a:p>
            <a:pPr>
              <a:spcAft>
                <a:spcPts val="900"/>
              </a:spcAft>
            </a:pPr>
            <a:r>
              <a:rPr sz="1400">
                <a:solidFill>
                  <a:srgbClr val="1B344A"/>
                </a:solidFill>
                <a:latin typeface="Calibri"/>
              </a:rPr>
              <a:t>•  Mission : inventaire physique</a:t>
            </a:r>
          </a:p>
          <a:p>
            <a:pPr>
              <a:spcAft>
                <a:spcPts val="900"/>
              </a:spcAft>
            </a:pPr>
            <a:r>
              <a:rPr sz="1400">
                <a:solidFill>
                  <a:srgbClr val="1B344A"/>
                </a:solidFill>
                <a:latin typeface="Calibri"/>
              </a:rPr>
              <a:t>•      des immobilisations</a:t>
            </a:r>
          </a:p>
        </p:txBody>
      </p:sp>
      <p:pic>
        <p:nvPicPr>
          <p:cNvPr id="11" name="Picture 10" descr="p17_1_1400x520.png"/>
          <p:cNvPicPr>
            <a:picLocks noChangeAspect="1"/>
          </p:cNvPicPr>
          <p:nvPr/>
        </p:nvPicPr>
        <p:blipFill>
          <a:blip r:embed="rId3"/>
          <a:stretch>
            <a:fillRect/>
          </a:stretch>
        </p:blipFill>
        <p:spPr>
          <a:xfrm>
            <a:off x="5275385" y="1417320"/>
            <a:ext cx="5908430" cy="2194560"/>
          </a:xfrm>
          <a:prstGeom prst="rect">
            <a:avLst/>
          </a:prstGeom>
        </p:spPr>
      </p:pic>
      <p:pic>
        <p:nvPicPr>
          <p:cNvPr id="12" name="Picture 11" descr="p18_1_1400x1400.png"/>
          <p:cNvPicPr>
            <a:picLocks noChangeAspect="1"/>
          </p:cNvPicPr>
          <p:nvPr/>
        </p:nvPicPr>
        <p:blipFill>
          <a:blip r:embed="rId4"/>
          <a:stretch>
            <a:fillRect/>
          </a:stretch>
        </p:blipFill>
        <p:spPr>
          <a:xfrm>
            <a:off x="6355080" y="3703320"/>
            <a:ext cx="2651760" cy="2651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Le métier de l'inventaire physique</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5</a:t>
            </a:r>
          </a:p>
        </p:txBody>
      </p:sp>
      <p:sp>
        <p:nvSpPr>
          <p:cNvPr id="7" name="TextBox 6"/>
          <p:cNvSpPr txBox="1"/>
          <p:nvPr/>
        </p:nvSpPr>
        <p:spPr>
          <a:xfrm>
            <a:off x="640080" y="1234440"/>
            <a:ext cx="10881360" cy="914400"/>
          </a:xfrm>
          <a:prstGeom prst="rect">
            <a:avLst/>
          </a:prstGeom>
          <a:noFill/>
        </p:spPr>
        <p:txBody>
          <a:bodyPr wrap="square" anchor="t">
            <a:spAutoFit/>
          </a:bodyPr>
          <a:lstStyle/>
          <a:p>
            <a:pPr algn="l"/>
            <a:r>
              <a:rPr sz="1700" b="0" i="0">
                <a:solidFill>
                  <a:srgbClr val="1B344A"/>
                </a:solidFill>
                <a:latin typeface="Calibri"/>
              </a:rPr>
              <a:t>Recenser, identifier et qualifier l'ensemble des biens d'une organisation, puis rapprocher le terrain des données comptables.</a:t>
            </a:r>
          </a:p>
        </p:txBody>
      </p:sp>
      <p:sp>
        <p:nvSpPr>
          <p:cNvPr id="8" name="Rectangle 7"/>
          <p:cNvSpPr/>
          <p:nvPr/>
        </p:nvSpPr>
        <p:spPr>
          <a:xfrm>
            <a:off x="640080" y="2651760"/>
            <a:ext cx="2606040" cy="237744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651760"/>
            <a:ext cx="2606040" cy="64008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51760"/>
            <a:ext cx="2606040" cy="640080"/>
          </a:xfrm>
          <a:prstGeom prst="rect">
            <a:avLst/>
          </a:prstGeom>
          <a:noFill/>
        </p:spPr>
        <p:txBody>
          <a:bodyPr wrap="square" anchor="ctr">
            <a:spAutoFit/>
          </a:bodyPr>
          <a:lstStyle/>
          <a:p>
            <a:pPr algn="ctr"/>
            <a:r>
              <a:rPr sz="1500" b="1" i="0">
                <a:solidFill>
                  <a:srgbClr val="FFFFFF"/>
                </a:solidFill>
                <a:latin typeface="Calibri"/>
              </a:rPr>
              <a:t>Étape 1</a:t>
            </a:r>
          </a:p>
        </p:txBody>
      </p:sp>
      <p:sp>
        <p:nvSpPr>
          <p:cNvPr id="11" name="TextBox 10"/>
          <p:cNvSpPr txBox="1"/>
          <p:nvPr/>
        </p:nvSpPr>
        <p:spPr>
          <a:xfrm>
            <a:off x="640080" y="3401568"/>
            <a:ext cx="2606040" cy="457200"/>
          </a:xfrm>
          <a:prstGeom prst="rect">
            <a:avLst/>
          </a:prstGeom>
          <a:noFill/>
        </p:spPr>
        <p:txBody>
          <a:bodyPr wrap="square" anchor="t">
            <a:spAutoFit/>
          </a:bodyPr>
          <a:lstStyle/>
          <a:p>
            <a:pPr algn="ctr"/>
            <a:r>
              <a:rPr sz="1800" b="1" i="0">
                <a:solidFill>
                  <a:srgbClr val="1B344A"/>
                </a:solidFill>
                <a:latin typeface="Calibri"/>
              </a:rPr>
              <a:t>Préparer</a:t>
            </a:r>
          </a:p>
        </p:txBody>
      </p:sp>
      <p:sp>
        <p:nvSpPr>
          <p:cNvPr id="12" name="TextBox 11"/>
          <p:cNvSpPr txBox="1"/>
          <p:nvPr/>
        </p:nvSpPr>
        <p:spPr>
          <a:xfrm>
            <a:off x="822960" y="3931920"/>
            <a:ext cx="2240280" cy="1005840"/>
          </a:xfrm>
          <a:prstGeom prst="rect">
            <a:avLst/>
          </a:prstGeom>
          <a:noFill/>
        </p:spPr>
        <p:txBody>
          <a:bodyPr wrap="square" anchor="t">
            <a:spAutoFit/>
          </a:bodyPr>
          <a:lstStyle/>
          <a:p>
            <a:pPr algn="ctr"/>
            <a:r>
              <a:rPr sz="1300" b="0" i="0">
                <a:solidFill>
                  <a:srgbClr val="556670"/>
                </a:solidFill>
                <a:latin typeface="Calibri"/>
              </a:rPr>
              <a:t>Import du fichier</a:t>
            </a:r>
          </a:p>
          <a:p>
            <a:pPr algn="ctr"/>
            <a:r>
              <a:rPr sz="1300" b="0" i="0">
                <a:solidFill>
                  <a:srgbClr val="556670"/>
                </a:solidFill>
                <a:latin typeface="Calibri"/>
              </a:rPr>
              <a:t>comptable (Excel)</a:t>
            </a:r>
          </a:p>
        </p:txBody>
      </p:sp>
      <p:sp>
        <p:nvSpPr>
          <p:cNvPr id="13" name="Rectangle 12"/>
          <p:cNvSpPr/>
          <p:nvPr/>
        </p:nvSpPr>
        <p:spPr>
          <a:xfrm>
            <a:off x="3429000" y="2651760"/>
            <a:ext cx="2606040" cy="237744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29000" y="2651760"/>
            <a:ext cx="2606040" cy="64008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29000" y="2651760"/>
            <a:ext cx="2606040" cy="640080"/>
          </a:xfrm>
          <a:prstGeom prst="rect">
            <a:avLst/>
          </a:prstGeom>
          <a:noFill/>
        </p:spPr>
        <p:txBody>
          <a:bodyPr wrap="square" anchor="ctr">
            <a:spAutoFit/>
          </a:bodyPr>
          <a:lstStyle/>
          <a:p>
            <a:pPr algn="ctr"/>
            <a:r>
              <a:rPr sz="1500" b="1" i="0">
                <a:solidFill>
                  <a:srgbClr val="FFFFFF"/>
                </a:solidFill>
                <a:latin typeface="Calibri"/>
              </a:rPr>
              <a:t>Étape 2</a:t>
            </a:r>
          </a:p>
        </p:txBody>
      </p:sp>
      <p:sp>
        <p:nvSpPr>
          <p:cNvPr id="16" name="TextBox 15"/>
          <p:cNvSpPr txBox="1"/>
          <p:nvPr/>
        </p:nvSpPr>
        <p:spPr>
          <a:xfrm>
            <a:off x="3429000" y="3401568"/>
            <a:ext cx="2606040" cy="457200"/>
          </a:xfrm>
          <a:prstGeom prst="rect">
            <a:avLst/>
          </a:prstGeom>
          <a:noFill/>
        </p:spPr>
        <p:txBody>
          <a:bodyPr wrap="square" anchor="t">
            <a:spAutoFit/>
          </a:bodyPr>
          <a:lstStyle/>
          <a:p>
            <a:pPr algn="ctr"/>
            <a:r>
              <a:rPr sz="1800" b="1" i="0">
                <a:solidFill>
                  <a:srgbClr val="1B344A"/>
                </a:solidFill>
                <a:latin typeface="Calibri"/>
              </a:rPr>
              <a:t>Recenser</a:t>
            </a:r>
          </a:p>
        </p:txBody>
      </p:sp>
      <p:sp>
        <p:nvSpPr>
          <p:cNvPr id="17" name="TextBox 16"/>
          <p:cNvSpPr txBox="1"/>
          <p:nvPr/>
        </p:nvSpPr>
        <p:spPr>
          <a:xfrm>
            <a:off x="3611880" y="3931920"/>
            <a:ext cx="2240280" cy="1005840"/>
          </a:xfrm>
          <a:prstGeom prst="rect">
            <a:avLst/>
          </a:prstGeom>
          <a:noFill/>
        </p:spPr>
        <p:txBody>
          <a:bodyPr wrap="square" anchor="t">
            <a:spAutoFit/>
          </a:bodyPr>
          <a:lstStyle/>
          <a:p>
            <a:pPr algn="ctr"/>
            <a:r>
              <a:rPr sz="1300" b="0" i="0">
                <a:solidFill>
                  <a:srgbClr val="556670"/>
                </a:solidFill>
                <a:latin typeface="Calibri"/>
              </a:rPr>
              <a:t>Scan QR / code-barres</a:t>
            </a:r>
          </a:p>
          <a:p>
            <a:pPr algn="ctr"/>
            <a:r>
              <a:rPr sz="1300" b="0" i="0">
                <a:solidFill>
                  <a:srgbClr val="556670"/>
                </a:solidFill>
                <a:latin typeface="Calibri"/>
              </a:rPr>
              <a:t>sur le terrain</a:t>
            </a:r>
          </a:p>
        </p:txBody>
      </p:sp>
      <p:sp>
        <p:nvSpPr>
          <p:cNvPr id="18" name="Rectangle 17"/>
          <p:cNvSpPr/>
          <p:nvPr/>
        </p:nvSpPr>
        <p:spPr>
          <a:xfrm>
            <a:off x="6217920" y="2651760"/>
            <a:ext cx="2606040" cy="237744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2651760"/>
            <a:ext cx="2606040" cy="64008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2651760"/>
            <a:ext cx="2606040" cy="640080"/>
          </a:xfrm>
          <a:prstGeom prst="rect">
            <a:avLst/>
          </a:prstGeom>
          <a:noFill/>
        </p:spPr>
        <p:txBody>
          <a:bodyPr wrap="square" anchor="ctr">
            <a:spAutoFit/>
          </a:bodyPr>
          <a:lstStyle/>
          <a:p>
            <a:pPr algn="ctr"/>
            <a:r>
              <a:rPr sz="1500" b="1" i="0">
                <a:solidFill>
                  <a:srgbClr val="FFFFFF"/>
                </a:solidFill>
                <a:latin typeface="Calibri"/>
              </a:rPr>
              <a:t>Étape 3</a:t>
            </a:r>
          </a:p>
        </p:txBody>
      </p:sp>
      <p:sp>
        <p:nvSpPr>
          <p:cNvPr id="21" name="TextBox 20"/>
          <p:cNvSpPr txBox="1"/>
          <p:nvPr/>
        </p:nvSpPr>
        <p:spPr>
          <a:xfrm>
            <a:off x="6217920" y="3401568"/>
            <a:ext cx="2606040" cy="457200"/>
          </a:xfrm>
          <a:prstGeom prst="rect">
            <a:avLst/>
          </a:prstGeom>
          <a:noFill/>
        </p:spPr>
        <p:txBody>
          <a:bodyPr wrap="square" anchor="t">
            <a:spAutoFit/>
          </a:bodyPr>
          <a:lstStyle/>
          <a:p>
            <a:pPr algn="ctr"/>
            <a:r>
              <a:rPr sz="1800" b="1" i="0">
                <a:solidFill>
                  <a:srgbClr val="1B344A"/>
                </a:solidFill>
                <a:latin typeface="Calibri"/>
              </a:rPr>
              <a:t>Qualifier</a:t>
            </a:r>
          </a:p>
        </p:txBody>
      </p:sp>
      <p:sp>
        <p:nvSpPr>
          <p:cNvPr id="22" name="TextBox 21"/>
          <p:cNvSpPr txBox="1"/>
          <p:nvPr/>
        </p:nvSpPr>
        <p:spPr>
          <a:xfrm>
            <a:off x="6400800" y="3931920"/>
            <a:ext cx="2240280" cy="1005840"/>
          </a:xfrm>
          <a:prstGeom prst="rect">
            <a:avLst/>
          </a:prstGeom>
          <a:noFill/>
        </p:spPr>
        <p:txBody>
          <a:bodyPr wrap="square" anchor="t">
            <a:spAutoFit/>
          </a:bodyPr>
          <a:lstStyle/>
          <a:p>
            <a:pPr algn="ctr"/>
            <a:r>
              <a:rPr sz="1300" b="0" i="0">
                <a:solidFill>
                  <a:srgbClr val="556670"/>
                </a:solidFill>
                <a:latin typeface="Calibri"/>
              </a:rPr>
              <a:t>État, photo &amp;</a:t>
            </a:r>
          </a:p>
          <a:p>
            <a:pPr algn="ctr"/>
            <a:r>
              <a:rPr sz="1300" b="0" i="0">
                <a:solidFill>
                  <a:srgbClr val="556670"/>
                </a:solidFill>
                <a:latin typeface="Calibri"/>
              </a:rPr>
              <a:t>validation agent</a:t>
            </a:r>
          </a:p>
        </p:txBody>
      </p:sp>
      <p:sp>
        <p:nvSpPr>
          <p:cNvPr id="23" name="Rectangle 22"/>
          <p:cNvSpPr/>
          <p:nvPr/>
        </p:nvSpPr>
        <p:spPr>
          <a:xfrm>
            <a:off x="9006840" y="2651760"/>
            <a:ext cx="2606040" cy="237744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2651760"/>
            <a:ext cx="2606040" cy="64008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06840" y="2651760"/>
            <a:ext cx="2606040" cy="640080"/>
          </a:xfrm>
          <a:prstGeom prst="rect">
            <a:avLst/>
          </a:prstGeom>
          <a:noFill/>
        </p:spPr>
        <p:txBody>
          <a:bodyPr wrap="square" anchor="ctr">
            <a:spAutoFit/>
          </a:bodyPr>
          <a:lstStyle/>
          <a:p>
            <a:pPr algn="ctr"/>
            <a:r>
              <a:rPr sz="1500" b="1" i="0">
                <a:solidFill>
                  <a:srgbClr val="FFFFFF"/>
                </a:solidFill>
                <a:latin typeface="Calibri"/>
              </a:rPr>
              <a:t>Étape 4</a:t>
            </a:r>
          </a:p>
        </p:txBody>
      </p:sp>
      <p:sp>
        <p:nvSpPr>
          <p:cNvPr id="26" name="TextBox 25"/>
          <p:cNvSpPr txBox="1"/>
          <p:nvPr/>
        </p:nvSpPr>
        <p:spPr>
          <a:xfrm>
            <a:off x="9006840" y="3401568"/>
            <a:ext cx="2606040" cy="457200"/>
          </a:xfrm>
          <a:prstGeom prst="rect">
            <a:avLst/>
          </a:prstGeom>
          <a:noFill/>
        </p:spPr>
        <p:txBody>
          <a:bodyPr wrap="square" anchor="t">
            <a:spAutoFit/>
          </a:bodyPr>
          <a:lstStyle/>
          <a:p>
            <a:pPr algn="ctr"/>
            <a:r>
              <a:rPr sz="1800" b="1" i="0">
                <a:solidFill>
                  <a:srgbClr val="1B344A"/>
                </a:solidFill>
                <a:latin typeface="Calibri"/>
              </a:rPr>
              <a:t>Restituer</a:t>
            </a:r>
          </a:p>
        </p:txBody>
      </p:sp>
      <p:sp>
        <p:nvSpPr>
          <p:cNvPr id="27" name="TextBox 26"/>
          <p:cNvSpPr txBox="1"/>
          <p:nvPr/>
        </p:nvSpPr>
        <p:spPr>
          <a:xfrm>
            <a:off x="9189720" y="3931920"/>
            <a:ext cx="2240280" cy="1005840"/>
          </a:xfrm>
          <a:prstGeom prst="rect">
            <a:avLst/>
          </a:prstGeom>
          <a:noFill/>
        </p:spPr>
        <p:txBody>
          <a:bodyPr wrap="square" anchor="t">
            <a:spAutoFit/>
          </a:bodyPr>
          <a:lstStyle/>
          <a:p>
            <a:pPr algn="ctr"/>
            <a:r>
              <a:rPr sz="1300" b="0" i="0">
                <a:solidFill>
                  <a:srgbClr val="556670"/>
                </a:solidFill>
                <a:latin typeface="Calibri"/>
              </a:rPr>
              <a:t>Rapports Excel / PDF</a:t>
            </a:r>
          </a:p>
          <a:p>
            <a:pPr algn="ctr"/>
            <a:r>
              <a:rPr sz="1300" b="0" i="0">
                <a:solidFill>
                  <a:srgbClr val="556670"/>
                </a:solidFill>
                <a:latin typeface="Calibri"/>
              </a:rPr>
              <a:t>&amp; écarts</a:t>
            </a:r>
          </a:p>
        </p:txBody>
      </p:sp>
      <p:sp>
        <p:nvSpPr>
          <p:cNvPr id="28" name="TextBox 27"/>
          <p:cNvSpPr txBox="1"/>
          <p:nvPr/>
        </p:nvSpPr>
        <p:spPr>
          <a:xfrm>
            <a:off x="640080" y="5349240"/>
            <a:ext cx="10881360" cy="822960"/>
          </a:xfrm>
          <a:prstGeom prst="rect">
            <a:avLst/>
          </a:prstGeom>
          <a:noFill/>
        </p:spPr>
        <p:txBody>
          <a:bodyPr wrap="square" anchor="t">
            <a:spAutoFit/>
          </a:bodyPr>
          <a:lstStyle/>
          <a:p>
            <a:pPr algn="ctr"/>
            <a:r>
              <a:rPr sz="1600" b="1" i="0">
                <a:solidFill>
                  <a:srgbClr val="266F8E"/>
                </a:solidFill>
                <a:latin typeface="Calibri"/>
              </a:rPr>
              <a:t>Objectif : remplacer un processus manuel lent et faillible par un outil mobile rapide, fiable, traçable et intelligent.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Objectifs du projet</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6</a:t>
            </a:r>
          </a:p>
        </p:txBody>
      </p:sp>
      <p:sp>
        <p:nvSpPr>
          <p:cNvPr id="7" name="Rectangle 6"/>
          <p:cNvSpPr/>
          <p:nvPr/>
        </p:nvSpPr>
        <p:spPr>
          <a:xfrm>
            <a:off x="640080" y="1463040"/>
            <a:ext cx="5349240" cy="448056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72200" y="1463040"/>
            <a:ext cx="5349240" cy="448056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54480"/>
            <a:ext cx="5349240" cy="457200"/>
          </a:xfrm>
          <a:prstGeom prst="rect">
            <a:avLst/>
          </a:prstGeom>
          <a:noFill/>
        </p:spPr>
        <p:txBody>
          <a:bodyPr wrap="square" anchor="t">
            <a:spAutoFit/>
          </a:bodyPr>
          <a:lstStyle/>
          <a:p>
            <a:pPr algn="ctr"/>
            <a:r>
              <a:rPr sz="1800" b="1" i="0">
                <a:solidFill>
                  <a:srgbClr val="266F8E"/>
                </a:solidFill>
                <a:latin typeface="Calibri"/>
              </a:rPr>
              <a:t>Objectifs fonctionnels</a:t>
            </a:r>
          </a:p>
        </p:txBody>
      </p:sp>
      <p:sp>
        <p:nvSpPr>
          <p:cNvPr id="10" name="TextBox 9"/>
          <p:cNvSpPr txBox="1"/>
          <p:nvPr/>
        </p:nvSpPr>
        <p:spPr>
          <a:xfrm>
            <a:off x="6172200" y="1554480"/>
            <a:ext cx="5349240" cy="457200"/>
          </a:xfrm>
          <a:prstGeom prst="rect">
            <a:avLst/>
          </a:prstGeom>
          <a:noFill/>
        </p:spPr>
        <p:txBody>
          <a:bodyPr wrap="square" anchor="t">
            <a:spAutoFit/>
          </a:bodyPr>
          <a:lstStyle/>
          <a:p>
            <a:pPr algn="ctr"/>
            <a:r>
              <a:rPr sz="1800" b="1" i="0">
                <a:solidFill>
                  <a:srgbClr val="5A7D2B"/>
                </a:solidFill>
                <a:latin typeface="Calibri"/>
              </a:rPr>
              <a:t>Objectifs avancés</a:t>
            </a:r>
          </a:p>
        </p:txBody>
      </p:sp>
      <p:sp>
        <p:nvSpPr>
          <p:cNvPr id="11" name="TextBox 10"/>
          <p:cNvSpPr txBox="1"/>
          <p:nvPr/>
        </p:nvSpPr>
        <p:spPr>
          <a:xfrm>
            <a:off x="914400" y="2240280"/>
            <a:ext cx="4846320" cy="3657600"/>
          </a:xfrm>
          <a:prstGeom prst="rect">
            <a:avLst/>
          </a:prstGeom>
          <a:noFill/>
        </p:spPr>
        <p:txBody>
          <a:bodyPr wrap="square">
            <a:spAutoFit/>
          </a:bodyPr>
          <a:lstStyle/>
          <a:p>
            <a:pPr>
              <a:spcAft>
                <a:spcPts val="1700"/>
              </a:spcAft>
            </a:pPr>
            <a:r>
              <a:rPr sz="1600">
                <a:solidFill>
                  <a:srgbClr val="1B344A"/>
                </a:solidFill>
                <a:latin typeface="Calibri"/>
              </a:rPr>
              <a:t>•  Authentifier agents &amp; admin (JWT)</a:t>
            </a:r>
          </a:p>
          <a:p>
            <a:pPr>
              <a:spcAft>
                <a:spcPts val="1700"/>
              </a:spcAft>
            </a:pPr>
            <a:r>
              <a:rPr sz="1600">
                <a:solidFill>
                  <a:srgbClr val="1B344A"/>
                </a:solidFill>
                <a:latin typeface="Calibri"/>
              </a:rPr>
              <a:t>•  Importer les données comptables</a:t>
            </a:r>
          </a:p>
          <a:p>
            <a:pPr>
              <a:spcAft>
                <a:spcPts val="1700"/>
              </a:spcAft>
            </a:pPr>
            <a:r>
              <a:rPr sz="1600">
                <a:solidFill>
                  <a:srgbClr val="1B344A"/>
                </a:solidFill>
                <a:latin typeface="Calibri"/>
              </a:rPr>
              <a:t>•  Scanner QR codes et codes-barres</a:t>
            </a:r>
          </a:p>
          <a:p>
            <a:pPr>
              <a:spcAft>
                <a:spcPts val="1700"/>
              </a:spcAft>
            </a:pPr>
            <a:r>
              <a:rPr sz="1600">
                <a:solidFill>
                  <a:srgbClr val="1B344A"/>
                </a:solidFill>
                <a:latin typeface="Calibri"/>
              </a:rPr>
              <a:t>•  Saisir / modifier l'inventaire avec photo</a:t>
            </a:r>
          </a:p>
        </p:txBody>
      </p:sp>
      <p:sp>
        <p:nvSpPr>
          <p:cNvPr id="12" name="TextBox 11"/>
          <p:cNvSpPr txBox="1"/>
          <p:nvPr/>
        </p:nvSpPr>
        <p:spPr>
          <a:xfrm>
            <a:off x="6446520" y="2240280"/>
            <a:ext cx="4846320" cy="3657600"/>
          </a:xfrm>
          <a:prstGeom prst="rect">
            <a:avLst/>
          </a:prstGeom>
          <a:noFill/>
        </p:spPr>
        <p:txBody>
          <a:bodyPr wrap="square">
            <a:spAutoFit/>
          </a:bodyPr>
          <a:lstStyle/>
          <a:p>
            <a:pPr>
              <a:spcAft>
                <a:spcPts val="1700"/>
              </a:spcAft>
            </a:pPr>
            <a:r>
              <a:rPr sz="1600">
                <a:solidFill>
                  <a:srgbClr val="1B344A"/>
                </a:solidFill>
                <a:latin typeface="Calibri"/>
              </a:rPr>
              <a:t>•  Identifier un bien inconnu par IA</a:t>
            </a:r>
          </a:p>
          <a:p>
            <a:pPr>
              <a:spcAft>
                <a:spcPts val="1700"/>
              </a:spcAft>
            </a:pPr>
            <a:r>
              <a:rPr sz="1600">
                <a:solidFill>
                  <a:srgbClr val="1B344A"/>
                </a:solidFill>
                <a:latin typeface="Calibri"/>
              </a:rPr>
              <a:t>•  Suivre l'activité des agents</a:t>
            </a:r>
          </a:p>
          <a:p>
            <a:pPr>
              <a:spcAft>
                <a:spcPts val="1700"/>
              </a:spcAft>
            </a:pPr>
            <a:r>
              <a:rPr sz="1600">
                <a:solidFill>
                  <a:srgbClr val="1B344A"/>
                </a:solidFill>
                <a:latin typeface="Calibri"/>
              </a:rPr>
              <a:t>•  Exporter les rapports Excel &amp; PDF</a:t>
            </a:r>
          </a:p>
          <a:p>
            <a:pPr>
              <a:spcAft>
                <a:spcPts val="1700"/>
              </a:spcAft>
            </a:pPr>
            <a:r>
              <a:rPr sz="1600">
                <a:solidFill>
                  <a:srgbClr val="1B344A"/>
                </a:solidFill>
                <a:latin typeface="Calibri"/>
              </a:rPr>
              <a:t>•  Tableau de bord administrateur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Déroulement du stage — 6 semaines</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7</a:t>
            </a:r>
          </a:p>
        </p:txBody>
      </p:sp>
      <p:pic>
        <p:nvPicPr>
          <p:cNvPr id="7" name="Picture 6" descr="p21_1_2379x1019.png"/>
          <p:cNvPicPr>
            <a:picLocks noChangeAspect="1"/>
          </p:cNvPicPr>
          <p:nvPr/>
        </p:nvPicPr>
        <p:blipFill>
          <a:blip r:embed="rId3"/>
          <a:stretch>
            <a:fillRect/>
          </a:stretch>
        </p:blipFill>
        <p:spPr>
          <a:xfrm>
            <a:off x="548640" y="1516620"/>
            <a:ext cx="11064240" cy="473915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Planification — Diagramme de Gantt</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8</a:t>
            </a:r>
          </a:p>
        </p:txBody>
      </p:sp>
      <p:pic>
        <p:nvPicPr>
          <p:cNvPr id="7" name="Picture 6" descr="p28_0_2283x643.png"/>
          <p:cNvPicPr>
            <a:picLocks noChangeAspect="1"/>
          </p:cNvPicPr>
          <p:nvPr/>
        </p:nvPicPr>
        <p:blipFill>
          <a:blip r:embed="rId3"/>
          <a:stretch>
            <a:fillRect/>
          </a:stretch>
        </p:blipFill>
        <p:spPr>
          <a:xfrm>
            <a:off x="365760" y="2276588"/>
            <a:ext cx="11430000" cy="32192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Planification — Diagramme de PERT</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9</a:t>
            </a:r>
          </a:p>
        </p:txBody>
      </p:sp>
      <p:pic>
        <p:nvPicPr>
          <p:cNvPr id="7" name="Picture 6" descr="p29_0_1256x646.png"/>
          <p:cNvPicPr>
            <a:picLocks noChangeAspect="1"/>
          </p:cNvPicPr>
          <p:nvPr/>
        </p:nvPicPr>
        <p:blipFill>
          <a:blip r:embed="rId3"/>
          <a:stretch>
            <a:fillRect/>
          </a:stretch>
        </p:blipFill>
        <p:spPr>
          <a:xfrm>
            <a:off x="1013908" y="1280160"/>
            <a:ext cx="10133703" cy="52120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Conception — Acteurs &amp; cas d'utilisation</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10</a:t>
            </a:r>
          </a:p>
        </p:txBody>
      </p:sp>
      <p:pic>
        <p:nvPicPr>
          <p:cNvPr id="7" name="Picture 6" descr="p33_0_775x1312.png"/>
          <p:cNvPicPr>
            <a:picLocks noChangeAspect="1"/>
          </p:cNvPicPr>
          <p:nvPr/>
        </p:nvPicPr>
        <p:blipFill>
          <a:blip r:embed="rId3"/>
          <a:stretch>
            <a:fillRect/>
          </a:stretch>
        </p:blipFill>
        <p:spPr>
          <a:xfrm>
            <a:off x="4460348" y="1143000"/>
            <a:ext cx="3240823" cy="5486400"/>
          </a:xfrm>
          <a:prstGeom prst="rect">
            <a:avLst/>
          </a:prstGeom>
        </p:spPr>
      </p:pic>
      <p:sp>
        <p:nvSpPr>
          <p:cNvPr id="8" name="TextBox 7"/>
          <p:cNvSpPr txBox="1"/>
          <p:nvPr/>
        </p:nvSpPr>
        <p:spPr>
          <a:xfrm>
            <a:off x="457200" y="1371600"/>
            <a:ext cx="2743200" cy="457200"/>
          </a:xfrm>
          <a:prstGeom prst="rect">
            <a:avLst/>
          </a:prstGeom>
          <a:noFill/>
        </p:spPr>
        <p:txBody>
          <a:bodyPr wrap="square" anchor="t">
            <a:spAutoFit/>
          </a:bodyPr>
          <a:lstStyle/>
          <a:p>
            <a:pPr algn="l"/>
            <a:r>
              <a:rPr sz="1800" b="1" i="0">
                <a:solidFill>
                  <a:srgbClr val="266F8E"/>
                </a:solidFill>
                <a:latin typeface="Calibri"/>
              </a:rPr>
              <a:t>Acteurs</a:t>
            </a:r>
          </a:p>
        </p:txBody>
      </p:sp>
      <p:sp>
        <p:nvSpPr>
          <p:cNvPr id="9" name="TextBox 8"/>
          <p:cNvSpPr txBox="1"/>
          <p:nvPr/>
        </p:nvSpPr>
        <p:spPr>
          <a:xfrm>
            <a:off x="457200" y="1920240"/>
            <a:ext cx="2743200" cy="2560320"/>
          </a:xfrm>
          <a:prstGeom prst="rect">
            <a:avLst/>
          </a:prstGeom>
          <a:noFill/>
        </p:spPr>
        <p:txBody>
          <a:bodyPr wrap="square">
            <a:spAutoFit/>
          </a:bodyPr>
          <a:lstStyle/>
          <a:p>
            <a:pPr>
              <a:spcAft>
                <a:spcPts val="1400"/>
              </a:spcAft>
            </a:pPr>
            <a:r>
              <a:rPr sz="1400">
                <a:solidFill>
                  <a:srgbClr val="1B344A"/>
                </a:solidFill>
                <a:latin typeface="Calibri"/>
              </a:rPr>
              <a:t>•  Agent : scan, saisie, photo, validation, export</a:t>
            </a:r>
          </a:p>
          <a:p>
            <a:pPr>
              <a:spcAft>
                <a:spcPts val="1400"/>
              </a:spcAft>
            </a:pPr>
            <a:r>
              <a:rPr sz="1400">
                <a:solidFill>
                  <a:srgbClr val="1B344A"/>
                </a:solidFill>
                <a:latin typeface="Calibri"/>
              </a:rPr>
              <a:t>•  Administrateur : import, gestion des agents, suivi</a:t>
            </a:r>
          </a:p>
        </p:txBody>
      </p:sp>
      <p:sp>
        <p:nvSpPr>
          <p:cNvPr id="10" name="TextBox 9"/>
          <p:cNvSpPr txBox="1"/>
          <p:nvPr/>
        </p:nvSpPr>
        <p:spPr>
          <a:xfrm>
            <a:off x="8961120" y="1371600"/>
            <a:ext cx="3017520" cy="457200"/>
          </a:xfrm>
          <a:prstGeom prst="rect">
            <a:avLst/>
          </a:prstGeom>
          <a:noFill/>
        </p:spPr>
        <p:txBody>
          <a:bodyPr wrap="square" anchor="t">
            <a:spAutoFit/>
          </a:bodyPr>
          <a:lstStyle/>
          <a:p>
            <a:pPr algn="l"/>
            <a:r>
              <a:rPr sz="1600" b="1" i="0">
                <a:solidFill>
                  <a:srgbClr val="5A7D2B"/>
                </a:solidFill>
                <a:latin typeface="Calibri"/>
              </a:rPr>
              <a:t>Inclusions</a:t>
            </a:r>
          </a:p>
        </p:txBody>
      </p:sp>
      <p:sp>
        <p:nvSpPr>
          <p:cNvPr id="11" name="TextBox 10"/>
          <p:cNvSpPr txBox="1"/>
          <p:nvPr/>
        </p:nvSpPr>
        <p:spPr>
          <a:xfrm>
            <a:off x="8961120" y="1920240"/>
            <a:ext cx="3017520" cy="2560320"/>
          </a:xfrm>
          <a:prstGeom prst="rect">
            <a:avLst/>
          </a:prstGeom>
          <a:noFill/>
        </p:spPr>
        <p:txBody>
          <a:bodyPr wrap="square">
            <a:spAutoFit/>
          </a:bodyPr>
          <a:lstStyle/>
          <a:p>
            <a:pPr>
              <a:spcAft>
                <a:spcPts val="1400"/>
              </a:spcAft>
            </a:pPr>
            <a:r>
              <a:rPr sz="1400">
                <a:solidFill>
                  <a:srgbClr val="1B344A"/>
                </a:solidFill>
                <a:latin typeface="Calibri"/>
              </a:rPr>
              <a:t>•  Scan → modifier un article</a:t>
            </a:r>
          </a:p>
          <a:p>
            <a:pPr>
              <a:spcAft>
                <a:spcPts val="1400"/>
              </a:spcAft>
            </a:pPr>
            <a:r>
              <a:rPr sz="1400">
                <a:solidFill>
                  <a:srgbClr val="1B344A"/>
                </a:solidFill>
                <a:latin typeface="Calibri"/>
              </a:rPr>
              <a:t>•  Photo → identifier via IA Gemini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Conception — Diagramme de classes</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11</a:t>
            </a:r>
          </a:p>
        </p:txBody>
      </p:sp>
      <p:pic>
        <p:nvPicPr>
          <p:cNvPr id="7" name="Picture 6" descr="p35_0_830x905.png"/>
          <p:cNvPicPr>
            <a:picLocks noChangeAspect="1"/>
          </p:cNvPicPr>
          <p:nvPr/>
        </p:nvPicPr>
        <p:blipFill>
          <a:blip r:embed="rId3"/>
          <a:stretch>
            <a:fillRect/>
          </a:stretch>
        </p:blipFill>
        <p:spPr>
          <a:xfrm>
            <a:off x="3652548" y="1188720"/>
            <a:ext cx="4947863" cy="5394960"/>
          </a:xfrm>
          <a:prstGeom prst="rect">
            <a:avLst/>
          </a:prstGeom>
        </p:spPr>
      </p:pic>
      <p:sp>
        <p:nvSpPr>
          <p:cNvPr id="8" name="TextBox 7"/>
          <p:cNvSpPr txBox="1"/>
          <p:nvPr/>
        </p:nvSpPr>
        <p:spPr>
          <a:xfrm>
            <a:off x="457200" y="1645920"/>
            <a:ext cx="2468880" cy="4572000"/>
          </a:xfrm>
          <a:prstGeom prst="rect">
            <a:avLst/>
          </a:prstGeom>
          <a:noFill/>
        </p:spPr>
        <p:txBody>
          <a:bodyPr wrap="square">
            <a:spAutoFit/>
          </a:bodyPr>
          <a:lstStyle/>
          <a:p>
            <a:pPr>
              <a:spcAft>
                <a:spcPts val="1700"/>
              </a:spcAft>
            </a:pPr>
            <a:r>
              <a:rPr sz="1500">
                <a:solidFill>
                  <a:srgbClr val="1B344A"/>
                </a:solidFill>
                <a:latin typeface="Calibri"/>
              </a:rPr>
              <a:t>•  Agent</a:t>
            </a:r>
          </a:p>
          <a:p>
            <a:pPr>
              <a:spcAft>
                <a:spcPts val="1700"/>
              </a:spcAft>
            </a:pPr>
            <a:r>
              <a:rPr sz="1500">
                <a:solidFill>
                  <a:srgbClr val="1B344A"/>
                </a:solidFill>
                <a:latin typeface="Calibri"/>
              </a:rPr>
              <a:t>•  Localisation</a:t>
            </a:r>
          </a:p>
          <a:p>
            <a:pPr>
              <a:spcAft>
                <a:spcPts val="1700"/>
              </a:spcAft>
            </a:pPr>
            <a:r>
              <a:rPr sz="1500">
                <a:solidFill>
                  <a:srgbClr val="1B344A"/>
                </a:solidFill>
                <a:latin typeface="Calibri"/>
              </a:rPr>
              <a:t>•  InventEquipement</a:t>
            </a:r>
          </a:p>
          <a:p>
            <a:pPr>
              <a:spcAft>
                <a:spcPts val="1700"/>
              </a:spcAft>
            </a:pPr>
            <a:r>
              <a:rPr sz="1500">
                <a:solidFill>
                  <a:srgbClr val="1B344A"/>
                </a:solidFill>
                <a:latin typeface="Calibri"/>
              </a:rPr>
              <a:t>•  InventAutres</a:t>
            </a:r>
          </a:p>
          <a:p>
            <a:pPr>
              <a:spcAft>
                <a:spcPts val="1700"/>
              </a:spcAft>
            </a:pPr>
            <a:r>
              <a:rPr sz="1500">
                <a:solidFill>
                  <a:srgbClr val="1B344A"/>
                </a:solidFill>
                <a:latin typeface="Calibri"/>
              </a:rPr>
              <a:t>•  Etat</a:t>
            </a:r>
          </a:p>
          <a:p>
            <a:pPr>
              <a:spcAft>
                <a:spcPts val="1700"/>
              </a:spcAft>
            </a:pPr>
            <a:r>
              <a:rPr sz="1500">
                <a:solidFill>
                  <a:srgbClr val="1B344A"/>
                </a:solidFill>
                <a:latin typeface="Calibri"/>
              </a:rPr>
              <a:t>•  Station</a:t>
            </a:r>
          </a:p>
          <a:p>
            <a:pPr>
              <a:spcAft>
                <a:spcPts val="1700"/>
              </a:spcAft>
            </a:pPr>
            <a:r>
              <a:rPr sz="1500">
                <a:solidFill>
                  <a:srgbClr val="1B344A"/>
                </a:solidFill>
                <a:latin typeface="Calibri"/>
              </a:rPr>
              <a:t>•  Activité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Architecture complète du système</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12</a:t>
            </a:r>
          </a:p>
        </p:txBody>
      </p:sp>
      <p:pic>
        <p:nvPicPr>
          <p:cNvPr id="7" name="Picture 6" descr="p24_1_2379x1340.png"/>
          <p:cNvPicPr>
            <a:picLocks noChangeAspect="1"/>
          </p:cNvPicPr>
          <p:nvPr/>
        </p:nvPicPr>
        <p:blipFill>
          <a:blip r:embed="rId3"/>
          <a:stretch>
            <a:fillRect/>
          </a:stretch>
        </p:blipFill>
        <p:spPr>
          <a:xfrm>
            <a:off x="1291726" y="1234440"/>
            <a:ext cx="9578067" cy="53949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Architecture trois tiers</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13</a:t>
            </a:r>
          </a:p>
        </p:txBody>
      </p:sp>
      <p:pic>
        <p:nvPicPr>
          <p:cNvPr id="7" name="Picture 6" descr="p30_0_750x601.png"/>
          <p:cNvPicPr>
            <a:picLocks noChangeAspect="1"/>
          </p:cNvPicPr>
          <p:nvPr/>
        </p:nvPicPr>
        <p:blipFill>
          <a:blip r:embed="rId3"/>
          <a:stretch>
            <a:fillRect/>
          </a:stretch>
        </p:blipFill>
        <p:spPr>
          <a:xfrm>
            <a:off x="2714520" y="1188720"/>
            <a:ext cx="6732479" cy="53949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Architecture en couches du backend</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14</a:t>
            </a:r>
          </a:p>
        </p:txBody>
      </p:sp>
      <p:pic>
        <p:nvPicPr>
          <p:cNvPr id="7" name="Picture 6" descr="p31_0_678x668.png"/>
          <p:cNvPicPr>
            <a:picLocks noChangeAspect="1"/>
          </p:cNvPicPr>
          <p:nvPr/>
        </p:nvPicPr>
        <p:blipFill>
          <a:blip r:embed="rId3"/>
          <a:stretch>
            <a:fillRect/>
          </a:stretch>
        </p:blipFill>
        <p:spPr>
          <a:xfrm>
            <a:off x="3434339" y="1188720"/>
            <a:ext cx="5475722" cy="5394960"/>
          </a:xfrm>
          <a:prstGeom prst="rect">
            <a:avLst/>
          </a:prstGeom>
        </p:spPr>
      </p:pic>
      <p:sp>
        <p:nvSpPr>
          <p:cNvPr id="8" name="TextBox 7"/>
          <p:cNvSpPr txBox="1"/>
          <p:nvPr/>
        </p:nvSpPr>
        <p:spPr>
          <a:xfrm>
            <a:off x="457200" y="1737360"/>
            <a:ext cx="2651760" cy="4572000"/>
          </a:xfrm>
          <a:prstGeom prst="rect">
            <a:avLst/>
          </a:prstGeom>
          <a:noFill/>
        </p:spPr>
        <p:txBody>
          <a:bodyPr wrap="square">
            <a:spAutoFit/>
          </a:bodyPr>
          <a:lstStyle/>
          <a:p>
            <a:pPr>
              <a:spcAft>
                <a:spcPts val="1900"/>
              </a:spcAft>
            </a:pPr>
            <a:r>
              <a:rPr sz="1500">
                <a:solidFill>
                  <a:srgbClr val="1B344A"/>
                </a:solidFill>
                <a:latin typeface="Calibri"/>
              </a:rPr>
              <a:t>•  Controller (REST)</a:t>
            </a:r>
          </a:p>
          <a:p>
            <a:pPr>
              <a:spcAft>
                <a:spcPts val="1900"/>
              </a:spcAft>
            </a:pPr>
            <a:r>
              <a:rPr sz="1500">
                <a:solidFill>
                  <a:srgbClr val="1B344A"/>
                </a:solidFill>
                <a:latin typeface="Calibri"/>
              </a:rPr>
              <a:t>•  Service (métier)</a:t>
            </a:r>
          </a:p>
          <a:p>
            <a:pPr>
              <a:spcAft>
                <a:spcPts val="1900"/>
              </a:spcAft>
            </a:pPr>
            <a:r>
              <a:rPr sz="1500">
                <a:solidFill>
                  <a:srgbClr val="1B344A"/>
                </a:solidFill>
                <a:latin typeface="Calibri"/>
              </a:rPr>
              <a:t>•  Repository (JPA)</a:t>
            </a:r>
          </a:p>
          <a:p>
            <a:pPr>
              <a:spcAft>
                <a:spcPts val="1900"/>
              </a:spcAft>
            </a:pPr>
            <a:r>
              <a:rPr sz="1500">
                <a:solidFill>
                  <a:srgbClr val="1B344A"/>
                </a:solidFill>
                <a:latin typeface="Calibri"/>
              </a:rPr>
              <a:t>•  Modèle (entités)</a:t>
            </a:r>
          </a:p>
          <a:p>
            <a:pPr>
              <a:spcAft>
                <a:spcPts val="1900"/>
              </a:spcAft>
            </a:pPr>
            <a:r>
              <a:rPr sz="1500">
                <a:solidFill>
                  <a:srgbClr val="1B344A"/>
                </a:solidFill>
                <a:latin typeface="Calibri"/>
              </a:rPr>
              <a:t>•  Spring Security + JWT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Technologies utilisées</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15</a:t>
            </a:r>
          </a:p>
        </p:txBody>
      </p:sp>
      <p:sp>
        <p:nvSpPr>
          <p:cNvPr id="7" name="Rectangle 6"/>
          <p:cNvSpPr/>
          <p:nvPr/>
        </p:nvSpPr>
        <p:spPr>
          <a:xfrm>
            <a:off x="502920" y="1417320"/>
            <a:ext cx="2743200" cy="484632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2743200" cy="685800"/>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2743200" cy="685800"/>
          </a:xfrm>
          <a:prstGeom prst="rect">
            <a:avLst/>
          </a:prstGeom>
          <a:noFill/>
        </p:spPr>
        <p:txBody>
          <a:bodyPr wrap="square" anchor="ctr">
            <a:spAutoFit/>
          </a:bodyPr>
          <a:lstStyle/>
          <a:p>
            <a:pPr algn="ctr"/>
            <a:r>
              <a:rPr sz="1500" b="1" i="0">
                <a:solidFill>
                  <a:srgbClr val="FFFFFF"/>
                </a:solidFill>
                <a:latin typeface="Calibri"/>
              </a:rPr>
              <a:t>Backend</a:t>
            </a:r>
          </a:p>
        </p:txBody>
      </p:sp>
      <p:sp>
        <p:nvSpPr>
          <p:cNvPr id="10" name="TextBox 9"/>
          <p:cNvSpPr txBox="1"/>
          <p:nvPr/>
        </p:nvSpPr>
        <p:spPr>
          <a:xfrm>
            <a:off x="667512" y="2286000"/>
            <a:ext cx="2468880" cy="3840480"/>
          </a:xfrm>
          <a:prstGeom prst="rect">
            <a:avLst/>
          </a:prstGeom>
          <a:noFill/>
        </p:spPr>
        <p:txBody>
          <a:bodyPr wrap="square">
            <a:spAutoFit/>
          </a:bodyPr>
          <a:lstStyle/>
          <a:p>
            <a:pPr>
              <a:spcAft>
                <a:spcPts val="1300"/>
              </a:spcAft>
            </a:pPr>
            <a:r>
              <a:rPr sz="1400">
                <a:solidFill>
                  <a:srgbClr val="1B344A"/>
                </a:solidFill>
                <a:latin typeface="Calibri"/>
              </a:rPr>
              <a:t>•  Java 17</a:t>
            </a:r>
          </a:p>
          <a:p>
            <a:pPr>
              <a:spcAft>
                <a:spcPts val="1300"/>
              </a:spcAft>
            </a:pPr>
            <a:r>
              <a:rPr sz="1400">
                <a:solidFill>
                  <a:srgbClr val="1B344A"/>
                </a:solidFill>
                <a:latin typeface="Calibri"/>
              </a:rPr>
              <a:t>•  Spring Boot (API REST)</a:t>
            </a:r>
          </a:p>
          <a:p>
            <a:pPr>
              <a:spcAft>
                <a:spcPts val="1300"/>
              </a:spcAft>
            </a:pPr>
            <a:r>
              <a:rPr sz="1400">
                <a:solidFill>
                  <a:srgbClr val="1B344A"/>
                </a:solidFill>
                <a:latin typeface="Calibri"/>
              </a:rPr>
              <a:t>•  Spring Data JPA</a:t>
            </a:r>
          </a:p>
          <a:p>
            <a:pPr>
              <a:spcAft>
                <a:spcPts val="1300"/>
              </a:spcAft>
            </a:pPr>
            <a:r>
              <a:rPr sz="1400">
                <a:solidFill>
                  <a:srgbClr val="1B344A"/>
                </a:solidFill>
                <a:latin typeface="Calibri"/>
              </a:rPr>
              <a:t>•  Spring Security + JWT</a:t>
            </a:r>
          </a:p>
          <a:p>
            <a:pPr>
              <a:spcAft>
                <a:spcPts val="1300"/>
              </a:spcAft>
            </a:pPr>
            <a:r>
              <a:rPr sz="1400">
                <a:solidFill>
                  <a:srgbClr val="1B344A"/>
                </a:solidFill>
                <a:latin typeface="Calibri"/>
              </a:rPr>
              <a:t>•  Maven</a:t>
            </a:r>
          </a:p>
        </p:txBody>
      </p:sp>
      <p:sp>
        <p:nvSpPr>
          <p:cNvPr id="11" name="Rectangle 10"/>
          <p:cNvSpPr/>
          <p:nvPr/>
        </p:nvSpPr>
        <p:spPr>
          <a:xfrm>
            <a:off x="3355848" y="1417320"/>
            <a:ext cx="2743200" cy="484632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55848" y="1417320"/>
            <a:ext cx="2743200" cy="68580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55848" y="1417320"/>
            <a:ext cx="2743200" cy="685800"/>
          </a:xfrm>
          <a:prstGeom prst="rect">
            <a:avLst/>
          </a:prstGeom>
          <a:noFill/>
        </p:spPr>
        <p:txBody>
          <a:bodyPr wrap="square" anchor="ctr">
            <a:spAutoFit/>
          </a:bodyPr>
          <a:lstStyle/>
          <a:p>
            <a:pPr algn="ctr"/>
            <a:r>
              <a:rPr sz="1500" b="1" i="0">
                <a:solidFill>
                  <a:srgbClr val="FFFFFF"/>
                </a:solidFill>
                <a:latin typeface="Calibri"/>
              </a:rPr>
              <a:t>Base de données</a:t>
            </a:r>
          </a:p>
        </p:txBody>
      </p:sp>
      <p:sp>
        <p:nvSpPr>
          <p:cNvPr id="14" name="TextBox 13"/>
          <p:cNvSpPr txBox="1"/>
          <p:nvPr/>
        </p:nvSpPr>
        <p:spPr>
          <a:xfrm>
            <a:off x="3520440" y="2286000"/>
            <a:ext cx="2468880" cy="3840480"/>
          </a:xfrm>
          <a:prstGeom prst="rect">
            <a:avLst/>
          </a:prstGeom>
          <a:noFill/>
        </p:spPr>
        <p:txBody>
          <a:bodyPr wrap="square">
            <a:spAutoFit/>
          </a:bodyPr>
          <a:lstStyle/>
          <a:p>
            <a:pPr>
              <a:spcAft>
                <a:spcPts val="1300"/>
              </a:spcAft>
            </a:pPr>
            <a:r>
              <a:rPr sz="1400">
                <a:solidFill>
                  <a:srgbClr val="1B344A"/>
                </a:solidFill>
                <a:latin typeface="Calibri"/>
              </a:rPr>
              <a:t>•  PostgreSQL</a:t>
            </a:r>
          </a:p>
          <a:p>
            <a:pPr>
              <a:spcAft>
                <a:spcPts val="1300"/>
              </a:spcAft>
            </a:pPr>
            <a:r>
              <a:rPr sz="1400">
                <a:solidFill>
                  <a:srgbClr val="1B344A"/>
                </a:solidFill>
                <a:latin typeface="Calibri"/>
              </a:rPr>
              <a:t>•  Modèle relationnel</a:t>
            </a:r>
          </a:p>
          <a:p>
            <a:pPr>
              <a:spcAft>
                <a:spcPts val="1300"/>
              </a:spcAft>
            </a:pPr>
            <a:r>
              <a:rPr sz="1400">
                <a:solidFill>
                  <a:srgbClr val="1B344A"/>
                </a:solidFill>
                <a:latin typeface="Calibri"/>
              </a:rPr>
              <a:t>•  JDBC</a:t>
            </a:r>
          </a:p>
          <a:p>
            <a:pPr>
              <a:spcAft>
                <a:spcPts val="1300"/>
              </a:spcAft>
            </a:pPr>
            <a:r>
              <a:rPr sz="1400">
                <a:solidFill>
                  <a:srgbClr val="1B344A"/>
                </a:solidFill>
                <a:latin typeface="Calibri"/>
              </a:rPr>
              <a:t>•  openpyxl (Excel)</a:t>
            </a:r>
          </a:p>
        </p:txBody>
      </p:sp>
      <p:sp>
        <p:nvSpPr>
          <p:cNvPr id="15" name="Rectangle 14"/>
          <p:cNvSpPr/>
          <p:nvPr/>
        </p:nvSpPr>
        <p:spPr>
          <a:xfrm>
            <a:off x="6208776" y="1417320"/>
            <a:ext cx="2743200" cy="484632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08776" y="1417320"/>
            <a:ext cx="2743200" cy="685800"/>
          </a:xfrm>
          <a:prstGeom prst="rect">
            <a:avLst/>
          </a:prstGeom>
          <a:solidFill>
            <a:srgbClr val="1B3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08776" y="1417320"/>
            <a:ext cx="2743200" cy="685800"/>
          </a:xfrm>
          <a:prstGeom prst="rect">
            <a:avLst/>
          </a:prstGeom>
          <a:noFill/>
        </p:spPr>
        <p:txBody>
          <a:bodyPr wrap="square" anchor="ctr">
            <a:spAutoFit/>
          </a:bodyPr>
          <a:lstStyle/>
          <a:p>
            <a:pPr algn="ctr"/>
            <a:r>
              <a:rPr sz="1500" b="1" i="0">
                <a:solidFill>
                  <a:srgbClr val="FFFFFF"/>
                </a:solidFill>
                <a:latin typeface="Calibri"/>
              </a:rPr>
              <a:t>Mobile Android</a:t>
            </a:r>
          </a:p>
        </p:txBody>
      </p:sp>
      <p:sp>
        <p:nvSpPr>
          <p:cNvPr id="18" name="TextBox 17"/>
          <p:cNvSpPr txBox="1"/>
          <p:nvPr/>
        </p:nvSpPr>
        <p:spPr>
          <a:xfrm>
            <a:off x="6373368" y="2286000"/>
            <a:ext cx="2468880" cy="3840480"/>
          </a:xfrm>
          <a:prstGeom prst="rect">
            <a:avLst/>
          </a:prstGeom>
          <a:noFill/>
        </p:spPr>
        <p:txBody>
          <a:bodyPr wrap="square">
            <a:spAutoFit/>
          </a:bodyPr>
          <a:lstStyle/>
          <a:p>
            <a:pPr>
              <a:spcAft>
                <a:spcPts val="1300"/>
              </a:spcAft>
            </a:pPr>
            <a:r>
              <a:rPr sz="1400">
                <a:solidFill>
                  <a:srgbClr val="1B344A"/>
                </a:solidFill>
                <a:latin typeface="Calibri"/>
              </a:rPr>
              <a:t>•  Java natif</a:t>
            </a:r>
          </a:p>
          <a:p>
            <a:pPr>
              <a:spcAft>
                <a:spcPts val="1300"/>
              </a:spcAft>
            </a:pPr>
            <a:r>
              <a:rPr sz="1400">
                <a:solidFill>
                  <a:srgbClr val="1B344A"/>
                </a:solidFill>
                <a:latin typeface="Calibri"/>
              </a:rPr>
              <a:t>•  Retrofit (HTTP)</a:t>
            </a:r>
          </a:p>
          <a:p>
            <a:pPr>
              <a:spcAft>
                <a:spcPts val="1300"/>
              </a:spcAft>
            </a:pPr>
            <a:r>
              <a:rPr sz="1400">
                <a:solidFill>
                  <a:srgbClr val="1B344A"/>
                </a:solidFill>
                <a:latin typeface="Calibri"/>
              </a:rPr>
              <a:t>•  ZXing (scan)</a:t>
            </a:r>
          </a:p>
          <a:p>
            <a:pPr>
              <a:spcAft>
                <a:spcPts val="1300"/>
              </a:spcAft>
            </a:pPr>
            <a:r>
              <a:rPr sz="1400">
                <a:solidFill>
                  <a:srgbClr val="1B344A"/>
                </a:solidFill>
                <a:latin typeface="Calibri"/>
              </a:rPr>
              <a:t>•  Material Design 3</a:t>
            </a:r>
          </a:p>
          <a:p>
            <a:pPr>
              <a:spcAft>
                <a:spcPts val="1300"/>
              </a:spcAft>
            </a:pPr>
            <a:r>
              <a:rPr sz="1400">
                <a:solidFill>
                  <a:srgbClr val="1B344A"/>
                </a:solidFill>
                <a:latin typeface="Calibri"/>
              </a:rPr>
              <a:t>•  FileProvider</a:t>
            </a:r>
          </a:p>
        </p:txBody>
      </p:sp>
      <p:sp>
        <p:nvSpPr>
          <p:cNvPr id="19" name="Rectangle 18"/>
          <p:cNvSpPr/>
          <p:nvPr/>
        </p:nvSpPr>
        <p:spPr>
          <a:xfrm>
            <a:off x="9061704" y="1417320"/>
            <a:ext cx="2743200" cy="484632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61704" y="1417320"/>
            <a:ext cx="2743200" cy="68580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61704" y="1417320"/>
            <a:ext cx="2743200" cy="685800"/>
          </a:xfrm>
          <a:prstGeom prst="rect">
            <a:avLst/>
          </a:prstGeom>
          <a:noFill/>
        </p:spPr>
        <p:txBody>
          <a:bodyPr wrap="square" anchor="ctr">
            <a:spAutoFit/>
          </a:bodyPr>
          <a:lstStyle/>
          <a:p>
            <a:pPr algn="ctr"/>
            <a:r>
              <a:rPr sz="1500" b="1" i="0">
                <a:solidFill>
                  <a:srgbClr val="FFFFFF"/>
                </a:solidFill>
                <a:latin typeface="Calibri"/>
              </a:rPr>
              <a:t>IA &amp; Outils</a:t>
            </a:r>
          </a:p>
        </p:txBody>
      </p:sp>
      <p:sp>
        <p:nvSpPr>
          <p:cNvPr id="22" name="TextBox 21"/>
          <p:cNvSpPr txBox="1"/>
          <p:nvPr/>
        </p:nvSpPr>
        <p:spPr>
          <a:xfrm>
            <a:off x="9226296" y="2286000"/>
            <a:ext cx="2468880" cy="3840480"/>
          </a:xfrm>
          <a:prstGeom prst="rect">
            <a:avLst/>
          </a:prstGeom>
          <a:noFill/>
        </p:spPr>
        <p:txBody>
          <a:bodyPr wrap="square">
            <a:spAutoFit/>
          </a:bodyPr>
          <a:lstStyle/>
          <a:p>
            <a:pPr>
              <a:spcAft>
                <a:spcPts val="1300"/>
              </a:spcAft>
            </a:pPr>
            <a:r>
              <a:rPr sz="1400">
                <a:solidFill>
                  <a:srgbClr val="1B344A"/>
                </a:solidFill>
                <a:latin typeface="Calibri"/>
              </a:rPr>
              <a:t>•  Google Gemini 2.5 Flash</a:t>
            </a:r>
          </a:p>
          <a:p>
            <a:pPr>
              <a:spcAft>
                <a:spcPts val="1300"/>
              </a:spcAft>
            </a:pPr>
            <a:r>
              <a:rPr sz="1400">
                <a:solidFill>
                  <a:srgbClr val="1B344A"/>
                </a:solidFill>
                <a:latin typeface="Calibri"/>
              </a:rPr>
              <a:t>•  Reconnaissance d'objets</a:t>
            </a:r>
          </a:p>
          <a:p>
            <a:pPr>
              <a:spcAft>
                <a:spcPts val="1300"/>
              </a:spcAft>
            </a:pPr>
            <a:r>
              <a:rPr sz="1400">
                <a:solidFill>
                  <a:srgbClr val="1B344A"/>
                </a:solidFill>
                <a:latin typeface="Calibri"/>
              </a:rPr>
              <a:t>•  Git &amp; GitHub</a:t>
            </a:r>
          </a:p>
          <a:p>
            <a:pPr>
              <a:spcAft>
                <a:spcPts val="1300"/>
              </a:spcAft>
            </a:pPr>
            <a:r>
              <a:rPr sz="1400">
                <a:solidFill>
                  <a:srgbClr val="1B344A"/>
                </a:solidFill>
                <a:latin typeface="Calibri"/>
              </a:rPr>
              <a:t>•  Postman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Fonctionnement — Authentification JWT</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16</a:t>
            </a:r>
          </a:p>
        </p:txBody>
      </p:sp>
      <p:pic>
        <p:nvPicPr>
          <p:cNvPr id="7" name="Picture 6" descr="p36_0_659x548.png"/>
          <p:cNvPicPr>
            <a:picLocks noChangeAspect="1"/>
          </p:cNvPicPr>
          <p:nvPr/>
        </p:nvPicPr>
        <p:blipFill>
          <a:blip r:embed="rId3"/>
          <a:stretch>
            <a:fillRect/>
          </a:stretch>
        </p:blipFill>
        <p:spPr>
          <a:xfrm>
            <a:off x="3017520" y="1338923"/>
            <a:ext cx="6126480" cy="509455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Fonctionnement — Scan QR &amp; code-barres</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17</a:t>
            </a:r>
          </a:p>
        </p:txBody>
      </p:sp>
      <p:pic>
        <p:nvPicPr>
          <p:cNvPr id="7" name="Picture 6" descr="p37_0_883x1133.png"/>
          <p:cNvPicPr>
            <a:picLocks noChangeAspect="1"/>
          </p:cNvPicPr>
          <p:nvPr/>
        </p:nvPicPr>
        <p:blipFill>
          <a:blip r:embed="rId3"/>
          <a:stretch>
            <a:fillRect/>
          </a:stretch>
        </p:blipFill>
        <p:spPr>
          <a:xfrm>
            <a:off x="3942856" y="1143000"/>
            <a:ext cx="4275808" cy="5486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Fonctionnement — Reconnaissance IA (Gemini)</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18</a:t>
            </a:r>
          </a:p>
        </p:txBody>
      </p:sp>
      <p:pic>
        <p:nvPicPr>
          <p:cNvPr id="7" name="Picture 6" descr="p39_0_748x893.png"/>
          <p:cNvPicPr>
            <a:picLocks noChangeAspect="1"/>
          </p:cNvPicPr>
          <p:nvPr/>
        </p:nvPicPr>
        <p:blipFill>
          <a:blip r:embed="rId3"/>
          <a:stretch>
            <a:fillRect/>
          </a:stretch>
        </p:blipFill>
        <p:spPr>
          <a:xfrm>
            <a:off x="3821281" y="1188720"/>
            <a:ext cx="4518958" cy="53949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Réalisation — Connexion &amp; tableau de bord</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19</a:t>
            </a:r>
          </a:p>
        </p:txBody>
      </p:sp>
      <p:pic>
        <p:nvPicPr>
          <p:cNvPr id="7" name="Picture 6" descr="p64_1_738x1600.png"/>
          <p:cNvPicPr>
            <a:picLocks noChangeAspect="1"/>
          </p:cNvPicPr>
          <p:nvPr/>
        </p:nvPicPr>
        <p:blipFill>
          <a:blip r:embed="rId3"/>
          <a:stretch>
            <a:fillRect/>
          </a:stretch>
        </p:blipFill>
        <p:spPr>
          <a:xfrm>
            <a:off x="3508038" y="1280160"/>
            <a:ext cx="2066658" cy="4480560"/>
          </a:xfrm>
          <a:prstGeom prst="rect">
            <a:avLst/>
          </a:prstGeom>
        </p:spPr>
      </p:pic>
      <p:sp>
        <p:nvSpPr>
          <p:cNvPr id="8" name="TextBox 7"/>
          <p:cNvSpPr txBox="1"/>
          <p:nvPr/>
        </p:nvSpPr>
        <p:spPr>
          <a:xfrm>
            <a:off x="3306927" y="5806440"/>
            <a:ext cx="2468880" cy="548640"/>
          </a:xfrm>
          <a:prstGeom prst="rect">
            <a:avLst/>
          </a:prstGeom>
          <a:noFill/>
        </p:spPr>
        <p:txBody>
          <a:bodyPr wrap="square" anchor="t">
            <a:spAutoFit/>
          </a:bodyPr>
          <a:lstStyle/>
          <a:p>
            <a:pPr algn="ctr"/>
            <a:r>
              <a:rPr sz="1400" b="1" i="0">
                <a:solidFill>
                  <a:srgbClr val="266F8E"/>
                </a:solidFill>
                <a:latin typeface="Calibri"/>
              </a:rPr>
              <a:t>Écran de connexion (JWT)</a:t>
            </a:r>
          </a:p>
        </p:txBody>
      </p:sp>
      <p:pic>
        <p:nvPicPr>
          <p:cNvPr id="9" name="Picture 8" descr="p65_1_738x1600.png"/>
          <p:cNvPicPr>
            <a:picLocks noChangeAspect="1"/>
          </p:cNvPicPr>
          <p:nvPr/>
        </p:nvPicPr>
        <p:blipFill>
          <a:blip r:embed="rId4"/>
          <a:stretch>
            <a:fillRect/>
          </a:stretch>
        </p:blipFill>
        <p:spPr>
          <a:xfrm>
            <a:off x="6616998" y="1280160"/>
            <a:ext cx="2066658" cy="4480560"/>
          </a:xfrm>
          <a:prstGeom prst="rect">
            <a:avLst/>
          </a:prstGeom>
        </p:spPr>
      </p:pic>
      <p:sp>
        <p:nvSpPr>
          <p:cNvPr id="10" name="TextBox 9"/>
          <p:cNvSpPr txBox="1"/>
          <p:nvPr/>
        </p:nvSpPr>
        <p:spPr>
          <a:xfrm>
            <a:off x="6415887" y="5806440"/>
            <a:ext cx="2468880" cy="548640"/>
          </a:xfrm>
          <a:prstGeom prst="rect">
            <a:avLst/>
          </a:prstGeom>
          <a:noFill/>
        </p:spPr>
        <p:txBody>
          <a:bodyPr wrap="square" anchor="t">
            <a:spAutoFit/>
          </a:bodyPr>
          <a:lstStyle/>
          <a:p>
            <a:pPr algn="ctr"/>
            <a:r>
              <a:rPr sz="1400" b="1" i="0">
                <a:solidFill>
                  <a:srgbClr val="266F8E"/>
                </a:solidFill>
                <a:latin typeface="Calibri"/>
              </a:rPr>
              <a:t>Tableau de bord principal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Réalisation — Liste &amp; fiche d'un bien</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20</a:t>
            </a:r>
          </a:p>
        </p:txBody>
      </p:sp>
      <p:pic>
        <p:nvPicPr>
          <p:cNvPr id="7" name="Picture 6" descr="p66_1_738x1600.png"/>
          <p:cNvPicPr>
            <a:picLocks noChangeAspect="1"/>
          </p:cNvPicPr>
          <p:nvPr/>
        </p:nvPicPr>
        <p:blipFill>
          <a:blip r:embed="rId3"/>
          <a:stretch>
            <a:fillRect/>
          </a:stretch>
        </p:blipFill>
        <p:spPr>
          <a:xfrm>
            <a:off x="3508038" y="1280160"/>
            <a:ext cx="2066658" cy="4480560"/>
          </a:xfrm>
          <a:prstGeom prst="rect">
            <a:avLst/>
          </a:prstGeom>
        </p:spPr>
      </p:pic>
      <p:sp>
        <p:nvSpPr>
          <p:cNvPr id="8" name="TextBox 7"/>
          <p:cNvSpPr txBox="1"/>
          <p:nvPr/>
        </p:nvSpPr>
        <p:spPr>
          <a:xfrm>
            <a:off x="3306927" y="5806440"/>
            <a:ext cx="2468880" cy="548640"/>
          </a:xfrm>
          <a:prstGeom prst="rect">
            <a:avLst/>
          </a:prstGeom>
          <a:noFill/>
        </p:spPr>
        <p:txBody>
          <a:bodyPr wrap="square" anchor="t">
            <a:spAutoFit/>
          </a:bodyPr>
          <a:lstStyle/>
          <a:p>
            <a:pPr algn="ctr"/>
            <a:r>
              <a:rPr sz="1400" b="1" i="0">
                <a:solidFill>
                  <a:srgbClr val="266F8E"/>
                </a:solidFill>
                <a:latin typeface="Calibri"/>
              </a:rPr>
              <a:t>Liste &amp; recherche des biens</a:t>
            </a:r>
          </a:p>
        </p:txBody>
      </p:sp>
      <p:pic>
        <p:nvPicPr>
          <p:cNvPr id="9" name="Picture 8" descr="p67_1_738x1600.png"/>
          <p:cNvPicPr>
            <a:picLocks noChangeAspect="1"/>
          </p:cNvPicPr>
          <p:nvPr/>
        </p:nvPicPr>
        <p:blipFill>
          <a:blip r:embed="rId4"/>
          <a:stretch>
            <a:fillRect/>
          </a:stretch>
        </p:blipFill>
        <p:spPr>
          <a:xfrm>
            <a:off x="6616998" y="1280160"/>
            <a:ext cx="2066658" cy="4480560"/>
          </a:xfrm>
          <a:prstGeom prst="rect">
            <a:avLst/>
          </a:prstGeom>
        </p:spPr>
      </p:pic>
      <p:sp>
        <p:nvSpPr>
          <p:cNvPr id="10" name="TextBox 9"/>
          <p:cNvSpPr txBox="1"/>
          <p:nvPr/>
        </p:nvSpPr>
        <p:spPr>
          <a:xfrm>
            <a:off x="6415887" y="5806440"/>
            <a:ext cx="2468880" cy="548640"/>
          </a:xfrm>
          <a:prstGeom prst="rect">
            <a:avLst/>
          </a:prstGeom>
          <a:noFill/>
        </p:spPr>
        <p:txBody>
          <a:bodyPr wrap="square" anchor="t">
            <a:spAutoFit/>
          </a:bodyPr>
          <a:lstStyle/>
          <a:p>
            <a:pPr algn="ctr"/>
            <a:r>
              <a:rPr sz="1400" b="1" i="0">
                <a:solidFill>
                  <a:srgbClr val="266F8E"/>
                </a:solidFill>
                <a:latin typeface="Calibri"/>
              </a:rPr>
              <a:t>Fiche d'inventaire d'un bien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Réalisation — Reconnaissance par IA</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21</a:t>
            </a:r>
          </a:p>
        </p:txBody>
      </p:sp>
      <p:pic>
        <p:nvPicPr>
          <p:cNvPr id="7" name="Picture 6" descr="p68_1_738x1600.png"/>
          <p:cNvPicPr>
            <a:picLocks noChangeAspect="1"/>
          </p:cNvPicPr>
          <p:nvPr/>
        </p:nvPicPr>
        <p:blipFill>
          <a:blip r:embed="rId3"/>
          <a:stretch>
            <a:fillRect/>
          </a:stretch>
        </p:blipFill>
        <p:spPr>
          <a:xfrm>
            <a:off x="1287932" y="1280160"/>
            <a:ext cx="2361895" cy="5120640"/>
          </a:xfrm>
          <a:prstGeom prst="rect">
            <a:avLst/>
          </a:prstGeom>
        </p:spPr>
      </p:pic>
      <p:sp>
        <p:nvSpPr>
          <p:cNvPr id="8" name="TextBox 7"/>
          <p:cNvSpPr txBox="1"/>
          <p:nvPr/>
        </p:nvSpPr>
        <p:spPr>
          <a:xfrm>
            <a:off x="4297680" y="1737360"/>
            <a:ext cx="7315200" cy="548640"/>
          </a:xfrm>
          <a:prstGeom prst="rect">
            <a:avLst/>
          </a:prstGeom>
          <a:noFill/>
        </p:spPr>
        <p:txBody>
          <a:bodyPr wrap="square" anchor="t">
            <a:spAutoFit/>
          </a:bodyPr>
          <a:lstStyle/>
          <a:p>
            <a:pPr algn="l"/>
            <a:r>
              <a:rPr sz="2000" b="1" i="0">
                <a:solidFill>
                  <a:srgbClr val="266F8E"/>
                </a:solidFill>
                <a:latin typeface="Calibri"/>
              </a:rPr>
              <a:t>Identification d'un bien inconnu par photo</a:t>
            </a:r>
          </a:p>
        </p:txBody>
      </p:sp>
      <p:sp>
        <p:nvSpPr>
          <p:cNvPr id="9" name="TextBox 8"/>
          <p:cNvSpPr txBox="1"/>
          <p:nvPr/>
        </p:nvSpPr>
        <p:spPr>
          <a:xfrm>
            <a:off x="4297680" y="2560320"/>
            <a:ext cx="7315200" cy="3291840"/>
          </a:xfrm>
          <a:prstGeom prst="rect">
            <a:avLst/>
          </a:prstGeom>
          <a:noFill/>
        </p:spPr>
        <p:txBody>
          <a:bodyPr wrap="square">
            <a:spAutoFit/>
          </a:bodyPr>
          <a:lstStyle/>
          <a:p>
            <a:pPr>
              <a:spcAft>
                <a:spcPts val="1500"/>
              </a:spcAft>
            </a:pPr>
            <a:r>
              <a:rPr sz="1600">
                <a:solidFill>
                  <a:srgbClr val="1B344A"/>
                </a:solidFill>
                <a:latin typeface="Calibri"/>
              </a:rPr>
              <a:t>•  L'agent prend une photo du bien (caméra ou galerie)</a:t>
            </a:r>
          </a:p>
          <a:p>
            <a:pPr>
              <a:spcAft>
                <a:spcPts val="1500"/>
              </a:spcAft>
            </a:pPr>
            <a:r>
              <a:rPr sz="1600">
                <a:solidFill>
                  <a:srgbClr val="1B344A"/>
                </a:solidFill>
                <a:latin typeface="Calibri"/>
              </a:rPr>
              <a:t>•  L'image est envoyée au backend puis à l'API Gemini 2.5 Flash</a:t>
            </a:r>
          </a:p>
          <a:p>
            <a:pPr>
              <a:spcAft>
                <a:spcPts val="1500"/>
              </a:spcAft>
            </a:pPr>
            <a:r>
              <a:rPr sz="1600">
                <a:solidFill>
                  <a:srgbClr val="1B344A"/>
                </a:solidFill>
                <a:latin typeface="Calibri"/>
              </a:rPr>
              <a:t>•  L'IA retourne désignation, type, marque et état estimé</a:t>
            </a:r>
          </a:p>
          <a:p>
            <a:pPr>
              <a:spcAft>
                <a:spcPts val="1500"/>
              </a:spcAft>
            </a:pPr>
            <a:r>
              <a:rPr sz="1600">
                <a:solidFill>
                  <a:srgbClr val="1B344A"/>
                </a:solidFill>
                <a:latin typeface="Calibri"/>
              </a:rPr>
              <a:t>•  Les champs de la fiche sont pré-remplis automatiquement</a:t>
            </a:r>
          </a:p>
          <a:p>
            <a:pPr>
              <a:spcAft>
                <a:spcPts val="1500"/>
              </a:spcAft>
            </a:pPr>
            <a:r>
              <a:rPr sz="1600">
                <a:solidFill>
                  <a:srgbClr val="1B344A"/>
                </a:solidFill>
                <a:latin typeface="Calibri"/>
              </a:rPr>
              <a:t>•  Gestion des erreurs : 3 tentatives en cas de surcharge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Réalisation — Export &amp; administration</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22</a:t>
            </a:r>
          </a:p>
        </p:txBody>
      </p:sp>
      <p:pic>
        <p:nvPicPr>
          <p:cNvPr id="7" name="Picture 6" descr="p69_1_738x1600.png"/>
          <p:cNvPicPr>
            <a:picLocks noChangeAspect="1"/>
          </p:cNvPicPr>
          <p:nvPr/>
        </p:nvPicPr>
        <p:blipFill>
          <a:blip r:embed="rId3"/>
          <a:stretch>
            <a:fillRect/>
          </a:stretch>
        </p:blipFill>
        <p:spPr>
          <a:xfrm>
            <a:off x="3508038" y="1280160"/>
            <a:ext cx="2066658" cy="4480560"/>
          </a:xfrm>
          <a:prstGeom prst="rect">
            <a:avLst/>
          </a:prstGeom>
        </p:spPr>
      </p:pic>
      <p:sp>
        <p:nvSpPr>
          <p:cNvPr id="8" name="TextBox 7"/>
          <p:cNvSpPr txBox="1"/>
          <p:nvPr/>
        </p:nvSpPr>
        <p:spPr>
          <a:xfrm>
            <a:off x="3306927" y="5806440"/>
            <a:ext cx="2468880" cy="548640"/>
          </a:xfrm>
          <a:prstGeom prst="rect">
            <a:avLst/>
          </a:prstGeom>
          <a:noFill/>
        </p:spPr>
        <p:txBody>
          <a:bodyPr wrap="square" anchor="t">
            <a:spAutoFit/>
          </a:bodyPr>
          <a:lstStyle/>
          <a:p>
            <a:pPr algn="ctr"/>
            <a:r>
              <a:rPr sz="1400" b="1" i="0">
                <a:solidFill>
                  <a:srgbClr val="266F8E"/>
                </a:solidFill>
                <a:latin typeface="Calibri"/>
              </a:rPr>
              <a:t>États &amp; export Excel / PDF</a:t>
            </a:r>
          </a:p>
        </p:txBody>
      </p:sp>
      <p:pic>
        <p:nvPicPr>
          <p:cNvPr id="9" name="Picture 8" descr="p70_1_738x1600.png"/>
          <p:cNvPicPr>
            <a:picLocks noChangeAspect="1"/>
          </p:cNvPicPr>
          <p:nvPr/>
        </p:nvPicPr>
        <p:blipFill>
          <a:blip r:embed="rId4"/>
          <a:stretch>
            <a:fillRect/>
          </a:stretch>
        </p:blipFill>
        <p:spPr>
          <a:xfrm>
            <a:off x="6616998" y="1280160"/>
            <a:ext cx="2066658" cy="4480560"/>
          </a:xfrm>
          <a:prstGeom prst="rect">
            <a:avLst/>
          </a:prstGeom>
        </p:spPr>
      </p:pic>
      <p:sp>
        <p:nvSpPr>
          <p:cNvPr id="10" name="TextBox 9"/>
          <p:cNvSpPr txBox="1"/>
          <p:nvPr/>
        </p:nvSpPr>
        <p:spPr>
          <a:xfrm>
            <a:off x="6415887" y="5806440"/>
            <a:ext cx="2468880" cy="548640"/>
          </a:xfrm>
          <a:prstGeom prst="rect">
            <a:avLst/>
          </a:prstGeom>
          <a:noFill/>
        </p:spPr>
        <p:txBody>
          <a:bodyPr wrap="square" anchor="t">
            <a:spAutoFit/>
          </a:bodyPr>
          <a:lstStyle/>
          <a:p>
            <a:pPr algn="ctr"/>
            <a:r>
              <a:rPr sz="1400" b="1" i="0">
                <a:solidFill>
                  <a:srgbClr val="266F8E"/>
                </a:solidFill>
                <a:latin typeface="Calibri"/>
              </a:rPr>
              <a:t>Tableau de bord administrateur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Bilan du stage</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23</a:t>
            </a:r>
          </a:p>
        </p:txBody>
      </p:sp>
      <p:sp>
        <p:nvSpPr>
          <p:cNvPr id="7" name="Rectangle 6"/>
          <p:cNvSpPr/>
          <p:nvPr/>
        </p:nvSpPr>
        <p:spPr>
          <a:xfrm>
            <a:off x="640080" y="1463040"/>
            <a:ext cx="5349240" cy="4480560"/>
          </a:xfrm>
          <a:prstGeom prst="rect">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54480"/>
            <a:ext cx="5349240" cy="457200"/>
          </a:xfrm>
          <a:prstGeom prst="rect">
            <a:avLst/>
          </a:prstGeom>
          <a:noFill/>
        </p:spPr>
        <p:txBody>
          <a:bodyPr wrap="square" anchor="t">
            <a:spAutoFit/>
          </a:bodyPr>
          <a:lstStyle/>
          <a:p>
            <a:pPr algn="ctr"/>
            <a:r>
              <a:rPr sz="1800" b="1" i="0">
                <a:solidFill>
                  <a:srgbClr val="266F8E"/>
                </a:solidFill>
                <a:latin typeface="Calibri"/>
              </a:rPr>
              <a:t>Compétences techniques</a:t>
            </a:r>
          </a:p>
        </p:txBody>
      </p:sp>
      <p:sp>
        <p:nvSpPr>
          <p:cNvPr id="9" name="TextBox 8"/>
          <p:cNvSpPr txBox="1"/>
          <p:nvPr/>
        </p:nvSpPr>
        <p:spPr>
          <a:xfrm>
            <a:off x="914400" y="2240280"/>
            <a:ext cx="4846320" cy="3657600"/>
          </a:xfrm>
          <a:prstGeom prst="rect">
            <a:avLst/>
          </a:prstGeom>
          <a:noFill/>
        </p:spPr>
        <p:txBody>
          <a:bodyPr wrap="square">
            <a:spAutoFit/>
          </a:bodyPr>
          <a:lstStyle/>
          <a:p>
            <a:pPr>
              <a:spcAft>
                <a:spcPts val="1300"/>
              </a:spcAft>
            </a:pPr>
            <a:r>
              <a:rPr sz="1500">
                <a:solidFill>
                  <a:srgbClr val="1B344A"/>
                </a:solidFill>
                <a:latin typeface="Calibri"/>
              </a:rPr>
              <a:t>•  Développement Android natif (Java)</a:t>
            </a:r>
          </a:p>
          <a:p>
            <a:pPr>
              <a:spcAft>
                <a:spcPts val="1300"/>
              </a:spcAft>
            </a:pPr>
            <a:r>
              <a:rPr sz="1500">
                <a:solidFill>
                  <a:srgbClr val="1B344A"/>
                </a:solidFill>
                <a:latin typeface="Calibri"/>
              </a:rPr>
              <a:t>•  API REST avec Spring Boot</a:t>
            </a:r>
          </a:p>
          <a:p>
            <a:pPr>
              <a:spcAft>
                <a:spcPts val="1300"/>
              </a:spcAft>
            </a:pPr>
            <a:r>
              <a:rPr sz="1500">
                <a:solidFill>
                  <a:srgbClr val="1B344A"/>
                </a:solidFill>
                <a:latin typeface="Calibri"/>
              </a:rPr>
              <a:t>•  Sécurité JWT &amp; Spring Security</a:t>
            </a:r>
          </a:p>
          <a:p>
            <a:pPr>
              <a:spcAft>
                <a:spcPts val="1300"/>
              </a:spcAft>
            </a:pPr>
            <a:r>
              <a:rPr sz="1500">
                <a:solidFill>
                  <a:srgbClr val="1B344A"/>
                </a:solidFill>
                <a:latin typeface="Calibri"/>
              </a:rPr>
              <a:t>•  Base PostgreSQL / JPA</a:t>
            </a:r>
          </a:p>
          <a:p>
            <a:pPr>
              <a:spcAft>
                <a:spcPts val="1300"/>
              </a:spcAft>
            </a:pPr>
            <a:r>
              <a:rPr sz="1500">
                <a:solidFill>
                  <a:srgbClr val="1B344A"/>
                </a:solidFill>
                <a:latin typeface="Calibri"/>
              </a:rPr>
              <a:t>•  Intégration d'une IA (Gemini)</a:t>
            </a:r>
          </a:p>
          <a:p>
            <a:pPr>
              <a:spcAft>
                <a:spcPts val="1300"/>
              </a:spcAft>
            </a:pPr>
            <a:r>
              <a:rPr sz="1500">
                <a:solidFill>
                  <a:srgbClr val="1B344A"/>
                </a:solidFill>
                <a:latin typeface="Calibri"/>
              </a:rPr>
              <a:t>•  Architecture trois tiers en couches</a:t>
            </a:r>
          </a:p>
        </p:txBody>
      </p:sp>
      <p:sp>
        <p:nvSpPr>
          <p:cNvPr id="10" name="Rectangle 9"/>
          <p:cNvSpPr/>
          <p:nvPr/>
        </p:nvSpPr>
        <p:spPr>
          <a:xfrm>
            <a:off x="6172200" y="1463040"/>
            <a:ext cx="5349240" cy="448056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554480"/>
            <a:ext cx="5349240" cy="457200"/>
          </a:xfrm>
          <a:prstGeom prst="rect">
            <a:avLst/>
          </a:prstGeom>
          <a:noFill/>
        </p:spPr>
        <p:txBody>
          <a:bodyPr wrap="square" anchor="t">
            <a:spAutoFit/>
          </a:bodyPr>
          <a:lstStyle/>
          <a:p>
            <a:pPr algn="ctr"/>
            <a:r>
              <a:rPr sz="1800" b="1" i="0">
                <a:solidFill>
                  <a:srgbClr val="FFFFFF"/>
                </a:solidFill>
                <a:latin typeface="Calibri"/>
              </a:rPr>
              <a:t>Compétences humaines</a:t>
            </a:r>
          </a:p>
        </p:txBody>
      </p:sp>
      <p:sp>
        <p:nvSpPr>
          <p:cNvPr id="12" name="TextBox 11"/>
          <p:cNvSpPr txBox="1"/>
          <p:nvPr/>
        </p:nvSpPr>
        <p:spPr>
          <a:xfrm>
            <a:off x="6446520" y="2240280"/>
            <a:ext cx="4846320" cy="3657600"/>
          </a:xfrm>
          <a:prstGeom prst="rect">
            <a:avLst/>
          </a:prstGeom>
          <a:noFill/>
        </p:spPr>
        <p:txBody>
          <a:bodyPr wrap="square">
            <a:spAutoFit/>
          </a:bodyPr>
          <a:lstStyle/>
          <a:p>
            <a:pPr>
              <a:spcAft>
                <a:spcPts val="1300"/>
              </a:spcAft>
            </a:pPr>
            <a:r>
              <a:rPr sz="1500">
                <a:solidFill>
                  <a:srgbClr val="FFFFFF"/>
                </a:solidFill>
                <a:latin typeface="Calibri"/>
              </a:rPr>
              <a:t>•  Analyse d'un besoin métier réel</a:t>
            </a:r>
          </a:p>
          <a:p>
            <a:pPr>
              <a:spcAft>
                <a:spcPts val="1300"/>
              </a:spcAft>
            </a:pPr>
            <a:r>
              <a:rPr sz="1500">
                <a:solidFill>
                  <a:srgbClr val="FFFFFF"/>
                </a:solidFill>
                <a:latin typeface="Calibri"/>
              </a:rPr>
              <a:t>•  Gestion et planification de projet</a:t>
            </a:r>
          </a:p>
          <a:p>
            <a:pPr>
              <a:spcAft>
                <a:spcPts val="1300"/>
              </a:spcAft>
            </a:pPr>
            <a:r>
              <a:rPr sz="1500">
                <a:solidFill>
                  <a:srgbClr val="FFFFFF"/>
                </a:solidFill>
                <a:latin typeface="Calibri"/>
              </a:rPr>
              <a:t>•  Autonomie et organisation</a:t>
            </a:r>
          </a:p>
          <a:p>
            <a:pPr>
              <a:spcAft>
                <a:spcPts val="1300"/>
              </a:spcAft>
            </a:pPr>
            <a:r>
              <a:rPr sz="1500">
                <a:solidFill>
                  <a:srgbClr val="FFFFFF"/>
                </a:solidFill>
                <a:latin typeface="Calibri"/>
              </a:rPr>
              <a:t>•  Communication avec l'encadrante</a:t>
            </a:r>
          </a:p>
          <a:p>
            <a:pPr>
              <a:spcAft>
                <a:spcPts val="1300"/>
              </a:spcAft>
            </a:pPr>
            <a:r>
              <a:rPr sz="1500">
                <a:solidFill>
                  <a:srgbClr val="FFFFFF"/>
                </a:solidFill>
                <a:latin typeface="Calibri"/>
              </a:rPr>
              <a:t>•  Rédaction technique &amp; documentation</a:t>
            </a:r>
          </a:p>
          <a:p>
            <a:pPr>
              <a:spcAft>
                <a:spcPts val="1300"/>
              </a:spcAft>
            </a:pPr>
            <a:r>
              <a:rPr sz="1500">
                <a:solidFill>
                  <a:srgbClr val="FFFFFF"/>
                </a:solidFill>
                <a:latin typeface="Calibri"/>
              </a:rPr>
              <a:t>•  Résolution de problèmes concrets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Difficultés &amp; perspectives</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24</a:t>
            </a:r>
          </a:p>
        </p:txBody>
      </p:sp>
      <p:sp>
        <p:nvSpPr>
          <p:cNvPr id="7" name="TextBox 6"/>
          <p:cNvSpPr txBox="1"/>
          <p:nvPr/>
        </p:nvSpPr>
        <p:spPr>
          <a:xfrm>
            <a:off x="640080" y="1325880"/>
            <a:ext cx="10881360" cy="457200"/>
          </a:xfrm>
          <a:prstGeom prst="rect">
            <a:avLst/>
          </a:prstGeom>
          <a:noFill/>
        </p:spPr>
        <p:txBody>
          <a:bodyPr wrap="square" anchor="t">
            <a:spAutoFit/>
          </a:bodyPr>
          <a:lstStyle/>
          <a:p>
            <a:pPr algn="l"/>
            <a:r>
              <a:rPr sz="1800" b="1" i="0">
                <a:solidFill>
                  <a:srgbClr val="5A7D2B"/>
                </a:solidFill>
                <a:latin typeface="Calibri"/>
              </a:rPr>
              <a:t>Difficultés rencontrées</a:t>
            </a:r>
          </a:p>
        </p:txBody>
      </p:sp>
      <p:sp>
        <p:nvSpPr>
          <p:cNvPr id="8" name="TextBox 7"/>
          <p:cNvSpPr txBox="1"/>
          <p:nvPr/>
        </p:nvSpPr>
        <p:spPr>
          <a:xfrm>
            <a:off x="914400" y="1874519"/>
            <a:ext cx="10515600" cy="1828800"/>
          </a:xfrm>
          <a:prstGeom prst="rect">
            <a:avLst/>
          </a:prstGeom>
          <a:noFill/>
        </p:spPr>
        <p:txBody>
          <a:bodyPr wrap="square">
            <a:spAutoFit/>
          </a:bodyPr>
          <a:lstStyle/>
          <a:p>
            <a:pPr>
              <a:spcAft>
                <a:spcPts val="1000"/>
              </a:spcAft>
            </a:pPr>
            <a:r>
              <a:rPr sz="1600">
                <a:solidFill>
                  <a:srgbClr val="1B344A"/>
                </a:solidFill>
                <a:latin typeface="Calibri"/>
              </a:rPr>
              <a:t>•  Gestion des permissions caméra &amp; du partage de fichiers (FileProvider)</a:t>
            </a:r>
          </a:p>
          <a:p>
            <a:pPr>
              <a:spcAft>
                <a:spcPts val="1000"/>
              </a:spcAft>
            </a:pPr>
            <a:r>
              <a:rPr sz="1600">
                <a:solidFill>
                  <a:srgbClr val="1B344A"/>
                </a:solidFill>
                <a:latin typeface="Calibri"/>
              </a:rPr>
              <a:t>•  Robustesse des appels à l'API Gemini (gestion des erreurs et reprises)</a:t>
            </a:r>
          </a:p>
          <a:p>
            <a:pPr>
              <a:spcAft>
                <a:spcPts val="1000"/>
              </a:spcAft>
            </a:pPr>
            <a:r>
              <a:rPr sz="1600">
                <a:solidFill>
                  <a:srgbClr val="1B344A"/>
                </a:solidFill>
                <a:latin typeface="Calibri"/>
              </a:rPr>
              <a:t>•  Compatibilité du stockage selon les versions d'Android</a:t>
            </a:r>
          </a:p>
        </p:txBody>
      </p:sp>
      <p:sp>
        <p:nvSpPr>
          <p:cNvPr id="9" name="TextBox 8"/>
          <p:cNvSpPr txBox="1"/>
          <p:nvPr/>
        </p:nvSpPr>
        <p:spPr>
          <a:xfrm>
            <a:off x="640080" y="3749039"/>
            <a:ext cx="10881360" cy="457200"/>
          </a:xfrm>
          <a:prstGeom prst="rect">
            <a:avLst/>
          </a:prstGeom>
          <a:noFill/>
        </p:spPr>
        <p:txBody>
          <a:bodyPr wrap="square" anchor="t">
            <a:spAutoFit/>
          </a:bodyPr>
          <a:lstStyle/>
          <a:p>
            <a:pPr algn="l"/>
            <a:r>
              <a:rPr sz="1800" b="1" i="0">
                <a:solidFill>
                  <a:srgbClr val="266F8E"/>
                </a:solidFill>
                <a:latin typeface="Calibri"/>
              </a:rPr>
              <a:t>Perspectives d'évolution</a:t>
            </a:r>
          </a:p>
        </p:txBody>
      </p:sp>
      <p:sp>
        <p:nvSpPr>
          <p:cNvPr id="10" name="TextBox 9"/>
          <p:cNvSpPr txBox="1"/>
          <p:nvPr/>
        </p:nvSpPr>
        <p:spPr>
          <a:xfrm>
            <a:off x="914400" y="4297680"/>
            <a:ext cx="10515600" cy="2011680"/>
          </a:xfrm>
          <a:prstGeom prst="rect">
            <a:avLst/>
          </a:prstGeom>
          <a:noFill/>
        </p:spPr>
        <p:txBody>
          <a:bodyPr wrap="square">
            <a:spAutoFit/>
          </a:bodyPr>
          <a:lstStyle/>
          <a:p>
            <a:pPr>
              <a:spcAft>
                <a:spcPts val="1000"/>
              </a:spcAft>
            </a:pPr>
            <a:r>
              <a:rPr sz="1600">
                <a:solidFill>
                  <a:srgbClr val="1B344A"/>
                </a:solidFill>
                <a:latin typeface="Calibri"/>
              </a:rPr>
              <a:t>•  Mode hors-ligne avec synchronisation différée</a:t>
            </a:r>
          </a:p>
          <a:p>
            <a:pPr>
              <a:spcAft>
                <a:spcPts val="1000"/>
              </a:spcAft>
            </a:pPr>
            <a:r>
              <a:rPr sz="1600">
                <a:solidFill>
                  <a:srgbClr val="1B344A"/>
                </a:solidFill>
                <a:latin typeface="Calibri"/>
              </a:rPr>
              <a:t>•  Génération et impression d'étiquettes QR depuis l'app</a:t>
            </a:r>
          </a:p>
          <a:p>
            <a:pPr>
              <a:spcAft>
                <a:spcPts val="1000"/>
              </a:spcAft>
            </a:pPr>
            <a:r>
              <a:rPr sz="1600">
                <a:solidFill>
                  <a:srgbClr val="1B344A"/>
                </a:solidFill>
                <a:latin typeface="Calibri"/>
              </a:rPr>
              <a:t>•  Statistiques et tableaux de bord analytiques avancés</a:t>
            </a:r>
          </a:p>
          <a:p>
            <a:pPr>
              <a:spcAft>
                <a:spcPts val="1000"/>
              </a:spcAft>
            </a:pPr>
            <a:r>
              <a:rPr sz="1600">
                <a:solidFill>
                  <a:srgbClr val="1B344A"/>
                </a:solidFill>
                <a:latin typeface="Calibri"/>
              </a:rPr>
              <a:t>•  Application multi-entreprises et multi-sites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4864"/>
          </a:xfrm>
          <a:prstGeom prst="rect">
            <a:avLst/>
          </a:prstGeom>
          <a:solidFill>
            <a:srgbClr val="5A7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9875520" cy="960120"/>
          </a:xfrm>
          <a:prstGeom prst="rect">
            <a:avLst/>
          </a:prstGeom>
          <a:noFill/>
        </p:spPr>
        <p:txBody>
          <a:bodyPr wrap="square" anchor="ctr">
            <a:spAutoFit/>
          </a:bodyPr>
          <a:lstStyle/>
          <a:p>
            <a:pPr algn="l"/>
            <a:r>
              <a:rPr sz="2500" b="1" i="0">
                <a:solidFill>
                  <a:srgbClr val="FFFFFF"/>
                </a:solidFill>
                <a:latin typeface="Calibri"/>
              </a:rPr>
              <a:t>Conclusion</a:t>
            </a:r>
          </a:p>
        </p:txBody>
      </p:sp>
      <p:pic>
        <p:nvPicPr>
          <p:cNvPr id="5" name="Picture 4" descr="p01_3_340x176.png"/>
          <p:cNvPicPr>
            <a:picLocks noChangeAspect="1"/>
          </p:cNvPicPr>
          <p:nvPr/>
        </p:nvPicPr>
        <p:blipFill>
          <a:blip r:embed="rId2"/>
          <a:stretch>
            <a:fillRect/>
          </a:stretch>
        </p:blipFill>
        <p:spPr>
          <a:xfrm>
            <a:off x="10698480" y="165130"/>
            <a:ext cx="1234440" cy="639004"/>
          </a:xfrm>
          <a:prstGeom prst="rect">
            <a:avLst/>
          </a:prstGeom>
        </p:spPr>
      </p:pic>
      <p:sp>
        <p:nvSpPr>
          <p:cNvPr id="6" name="TextBox 5"/>
          <p:cNvSpPr txBox="1"/>
          <p:nvPr/>
        </p:nvSpPr>
        <p:spPr>
          <a:xfrm>
            <a:off x="11338560" y="6419088"/>
            <a:ext cx="731520" cy="365760"/>
          </a:xfrm>
          <a:prstGeom prst="rect">
            <a:avLst/>
          </a:prstGeom>
          <a:noFill/>
        </p:spPr>
        <p:txBody>
          <a:bodyPr wrap="square" anchor="t">
            <a:spAutoFit/>
          </a:bodyPr>
          <a:lstStyle/>
          <a:p>
            <a:pPr algn="r"/>
            <a:r>
              <a:rPr sz="1100" b="0" i="0">
                <a:solidFill>
                  <a:srgbClr val="556670"/>
                </a:solidFill>
                <a:latin typeface="Calibri"/>
              </a:rPr>
              <a:t>25</a:t>
            </a:r>
          </a:p>
        </p:txBody>
      </p:sp>
      <p:sp>
        <p:nvSpPr>
          <p:cNvPr id="7" name="TextBox 6"/>
          <p:cNvSpPr txBox="1"/>
          <p:nvPr/>
        </p:nvSpPr>
        <p:spPr>
          <a:xfrm>
            <a:off x="822960" y="1645920"/>
            <a:ext cx="10515600" cy="2286000"/>
          </a:xfrm>
          <a:prstGeom prst="rect">
            <a:avLst/>
          </a:prstGeom>
          <a:noFill/>
        </p:spPr>
        <p:txBody>
          <a:bodyPr wrap="square" anchor="t">
            <a:spAutoFit/>
          </a:bodyPr>
          <a:lstStyle/>
          <a:p>
            <a:pPr algn="l"/>
            <a:r>
              <a:rPr sz="1900" b="0" i="0">
                <a:solidFill>
                  <a:srgbClr val="1B344A"/>
                </a:solidFill>
                <a:latin typeface="Calibri"/>
              </a:rPr>
              <a:t>Ce stage a permis de concevoir et développer une solution complète et fonctionnelle de gestion d'inventaire physique pour CF Consult, combinant une application mobile Android, un backend Spring Boot sécurisé et une intelligence artificielle de reconnaissance d'objets.</a:t>
            </a:r>
          </a:p>
        </p:txBody>
      </p:sp>
      <p:sp>
        <p:nvSpPr>
          <p:cNvPr id="8" name="TextBox 7"/>
          <p:cNvSpPr txBox="1"/>
          <p:nvPr/>
        </p:nvSpPr>
        <p:spPr>
          <a:xfrm>
            <a:off x="822960" y="3840480"/>
            <a:ext cx="10515600" cy="1828800"/>
          </a:xfrm>
          <a:prstGeom prst="rect">
            <a:avLst/>
          </a:prstGeom>
          <a:noFill/>
        </p:spPr>
        <p:txBody>
          <a:bodyPr wrap="square" anchor="t">
            <a:spAutoFit/>
          </a:bodyPr>
          <a:lstStyle/>
          <a:p>
            <a:pPr algn="l"/>
            <a:r>
              <a:rPr sz="1900" b="1" i="0">
                <a:solidFill>
                  <a:srgbClr val="266F8E"/>
                </a:solidFill>
                <a:latin typeface="Calibri"/>
              </a:rPr>
              <a:t>La solution transforme un processus manuel, lent et faillible en un outil rapide, fiable et traçable — une expérience à la fois technique et professionnelle très enrichissante.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344A"/>
        </a:solidFill>
        <a:effectLst/>
      </p:bgPr>
    </p:bg>
    <p:spTree>
      <p:nvGrpSpPr>
        <p:cNvPr id="1" name=""/>
        <p:cNvGrpSpPr/>
        <p:nvPr/>
      </p:nvGrpSpPr>
      <p:grpSpPr/>
      <p:sp>
        <p:nvSpPr>
          <p:cNvPr id="2" name="Rectangle 1"/>
          <p:cNvSpPr/>
          <p:nvPr/>
        </p:nvSpPr>
        <p:spPr>
          <a:xfrm>
            <a:off x="0" y="2743200"/>
            <a:ext cx="12191695" cy="1371600"/>
          </a:xfrm>
          <a:prstGeom prst="rect">
            <a:avLst/>
          </a:prstGeom>
          <a:solidFill>
            <a:srgbClr val="26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651760"/>
            <a:ext cx="12191695" cy="914400"/>
          </a:xfrm>
          <a:prstGeom prst="rect">
            <a:avLst/>
          </a:prstGeom>
          <a:noFill/>
        </p:spPr>
        <p:txBody>
          <a:bodyPr wrap="square" anchor="ctr">
            <a:spAutoFit/>
          </a:bodyPr>
          <a:lstStyle/>
          <a:p>
            <a:pPr algn="ctr"/>
            <a:r>
              <a:rPr sz="4000" b="1" i="0">
                <a:solidFill>
                  <a:srgbClr val="FFFFFF"/>
                </a:solidFill>
                <a:latin typeface="Calibri"/>
              </a:rPr>
              <a:t>Merci de votre attention</a:t>
            </a:r>
          </a:p>
        </p:txBody>
      </p:sp>
      <p:sp>
        <p:nvSpPr>
          <p:cNvPr id="4" name="TextBox 3"/>
          <p:cNvSpPr txBox="1"/>
          <p:nvPr/>
        </p:nvSpPr>
        <p:spPr>
          <a:xfrm>
            <a:off x="0" y="3611880"/>
            <a:ext cx="12191695" cy="640080"/>
          </a:xfrm>
          <a:prstGeom prst="rect">
            <a:avLst/>
          </a:prstGeom>
          <a:noFill/>
        </p:spPr>
        <p:txBody>
          <a:bodyPr wrap="square" anchor="t">
            <a:spAutoFit/>
          </a:bodyPr>
          <a:lstStyle/>
          <a:p>
            <a:pPr algn="ctr"/>
            <a:r>
              <a:rPr sz="2200" b="0" i="0">
                <a:solidFill>
                  <a:srgbClr val="FFFFFF"/>
                </a:solidFill>
                <a:latin typeface="Calibri"/>
              </a:rPr>
              <a:t>Avez-vous des questions ?</a:t>
            </a:r>
          </a:p>
        </p:txBody>
      </p:sp>
      <p:sp>
        <p:nvSpPr>
          <p:cNvPr id="5" name="TextBox 4"/>
          <p:cNvSpPr txBox="1"/>
          <p:nvPr/>
        </p:nvSpPr>
        <p:spPr>
          <a:xfrm>
            <a:off x="0" y="6035040"/>
            <a:ext cx="12191695" cy="457200"/>
          </a:xfrm>
          <a:prstGeom prst="rect">
            <a:avLst/>
          </a:prstGeom>
          <a:noFill/>
        </p:spPr>
        <p:txBody>
          <a:bodyPr wrap="square" anchor="t">
            <a:spAutoFit/>
          </a:bodyPr>
          <a:lstStyle/>
          <a:p>
            <a:pPr algn="ctr"/>
            <a:r>
              <a:rPr sz="1400" b="0" i="0">
                <a:solidFill>
                  <a:srgbClr val="BBCCD5"/>
                </a:solidFill>
                <a:latin typeface="Calibri"/>
              </a:rPr>
              <a:t>Kenza FOUDALI  ·  CF Consult  ·  2025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